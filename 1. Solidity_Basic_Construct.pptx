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257" r:id="rId2"/>
    <p:sldId id="315" r:id="rId3"/>
    <p:sldId id="314" r:id="rId4"/>
    <p:sldId id="359" r:id="rId5"/>
    <p:sldId id="354" r:id="rId6"/>
    <p:sldId id="370" r:id="rId7"/>
    <p:sldId id="374" r:id="rId8"/>
    <p:sldId id="355" r:id="rId9"/>
    <p:sldId id="357" r:id="rId10"/>
    <p:sldId id="362" r:id="rId11"/>
    <p:sldId id="383" r:id="rId12"/>
    <p:sldId id="364" r:id="rId13"/>
    <p:sldId id="365" r:id="rId14"/>
    <p:sldId id="360" r:id="rId15"/>
    <p:sldId id="361" r:id="rId16"/>
    <p:sldId id="366" r:id="rId17"/>
    <p:sldId id="377" r:id="rId18"/>
    <p:sldId id="385" r:id="rId19"/>
    <p:sldId id="409" r:id="rId20"/>
    <p:sldId id="410" r:id="rId21"/>
    <p:sldId id="416" r:id="rId22"/>
    <p:sldId id="412" r:id="rId23"/>
    <p:sldId id="386" r:id="rId24"/>
    <p:sldId id="413" r:id="rId25"/>
    <p:sldId id="415" r:id="rId26"/>
    <p:sldId id="414" r:id="rId27"/>
    <p:sldId id="375" r:id="rId28"/>
    <p:sldId id="388" r:id="rId29"/>
    <p:sldId id="389" r:id="rId30"/>
    <p:sldId id="390" r:id="rId31"/>
    <p:sldId id="391" r:id="rId32"/>
    <p:sldId id="417" r:id="rId33"/>
    <p:sldId id="378" r:id="rId34"/>
    <p:sldId id="34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18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1029" y="609"/>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E1196F-6D46-4ACA-AFF0-8FCC7F218082}" type="datetimeFigureOut">
              <a:rPr lang="en-IN" smtClean="0"/>
              <a:t>17-11-2025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F74F5C-80A1-4511-AB2D-512D6A7E701C}" type="slidenum">
              <a:rPr lang="en-IN" smtClean="0"/>
              <a:t>‹#›</a:t>
            </a:fld>
            <a:endParaRPr lang="en-IN"/>
          </a:p>
        </p:txBody>
      </p:sp>
    </p:spTree>
    <p:extLst>
      <p:ext uri="{BB962C8B-B14F-4D97-AF65-F5344CB8AC3E}">
        <p14:creationId xmlns:p14="http://schemas.microsoft.com/office/powerpoint/2010/main" val="38084347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7C98C9-3C5D-4C1F-8F5F-FF93A2736DCF}" type="datetimeFigureOut">
              <a:rPr lang="en-IN" smtClean="0"/>
              <a:t>17-11-2025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BF744A-23B8-4522-874D-1DBAE77D923C}" type="slidenum">
              <a:rPr lang="en-IN" smtClean="0"/>
              <a:t>‹#›</a:t>
            </a:fld>
            <a:endParaRPr lang="en-IN"/>
          </a:p>
        </p:txBody>
      </p:sp>
    </p:spTree>
    <p:extLst>
      <p:ext uri="{BB962C8B-B14F-4D97-AF65-F5344CB8AC3E}">
        <p14:creationId xmlns:p14="http://schemas.microsoft.com/office/powerpoint/2010/main" val="5454992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6" name="Slide Number Placeholder 5"/>
          <p:cNvSpPr>
            <a:spLocks noGrp="1"/>
          </p:cNvSpPr>
          <p:nvPr>
            <p:ph type="sldNum" sz="quarter" idx="12"/>
          </p:nvPr>
        </p:nvSpPr>
        <p:spPr>
          <a:xfrm>
            <a:off x="5896535" y="6461872"/>
            <a:ext cx="398930" cy="365125"/>
          </a:xfrm>
        </p:spPr>
        <p:txBody>
          <a:bodyPr/>
          <a:lstStyle/>
          <a:p>
            <a:fld id="{C905212E-7E47-46B0-BE65-5B75620CD287}" type="slidenum">
              <a:rPr lang="en-IN" smtClean="0"/>
              <a:t>‹#›</a:t>
            </a:fld>
            <a:endParaRPr lang="en-IN"/>
          </a:p>
        </p:txBody>
      </p:sp>
      <p:sp>
        <p:nvSpPr>
          <p:cNvPr id="9" name="Footer Placeholder 3"/>
          <p:cNvSpPr txBox="1">
            <a:spLocks/>
          </p:cNvSpPr>
          <p:nvPr userDrawn="1"/>
        </p:nvSpPr>
        <p:spPr>
          <a:xfrm>
            <a:off x="0" y="6242724"/>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3708662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p:txBody>
          <a:bodyPr/>
          <a:lstStyle/>
          <a:p>
            <a:fld id="{C905212E-7E47-46B0-BE65-5B75620CD287}" type="slidenum">
              <a:rPr lang="en-IN" smtClean="0"/>
              <a:t>‹#›</a:t>
            </a:fld>
            <a:endParaRPr lang="en-IN"/>
          </a:p>
        </p:txBody>
      </p:sp>
      <p:sp>
        <p:nvSpPr>
          <p:cNvPr id="7" name="Footer Placeholder 3"/>
          <p:cNvSpPr txBox="1">
            <a:spLocks/>
          </p:cNvSpPr>
          <p:nvPr userDrawn="1"/>
        </p:nvSpPr>
        <p:spPr>
          <a:xfrm>
            <a:off x="0" y="6256581"/>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36428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C905212E-7E47-46B0-BE65-5B75620CD287}" type="slidenum">
              <a:rPr lang="en-IN" smtClean="0"/>
              <a:t>‹#›</a:t>
            </a:fld>
            <a:endParaRPr lang="en-IN"/>
          </a:p>
        </p:txBody>
      </p:sp>
      <p:sp>
        <p:nvSpPr>
          <p:cNvPr id="7"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2369462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Slide Number Placeholder 6"/>
          <p:cNvSpPr>
            <a:spLocks noGrp="1"/>
          </p:cNvSpPr>
          <p:nvPr>
            <p:ph type="sldNum" sz="quarter" idx="12"/>
          </p:nvPr>
        </p:nvSpPr>
        <p:spPr/>
        <p:txBody>
          <a:bodyPr/>
          <a:lstStyle/>
          <a:p>
            <a:fld id="{C905212E-7E47-46B0-BE65-5B75620CD287}" type="slidenum">
              <a:rPr lang="en-IN" smtClean="0"/>
              <a:t>‹#›</a:t>
            </a:fld>
            <a:endParaRPr lang="en-IN"/>
          </a:p>
        </p:txBody>
      </p:sp>
      <p:sp>
        <p:nvSpPr>
          <p:cNvPr id="8"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4075499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Slide Number Placeholder 8"/>
          <p:cNvSpPr>
            <a:spLocks noGrp="1"/>
          </p:cNvSpPr>
          <p:nvPr>
            <p:ph type="sldNum" sz="quarter" idx="12"/>
          </p:nvPr>
        </p:nvSpPr>
        <p:spPr/>
        <p:txBody>
          <a:bodyPr/>
          <a:lstStyle/>
          <a:p>
            <a:fld id="{C905212E-7E47-46B0-BE65-5B75620CD287}" type="slidenum">
              <a:rPr lang="en-IN" smtClean="0"/>
              <a:t>‹#›</a:t>
            </a:fld>
            <a:endParaRPr lang="en-IN"/>
          </a:p>
        </p:txBody>
      </p:sp>
      <p:sp>
        <p:nvSpPr>
          <p:cNvPr id="10"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315311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5" name="Slide Number Placeholder 4"/>
          <p:cNvSpPr>
            <a:spLocks noGrp="1"/>
          </p:cNvSpPr>
          <p:nvPr>
            <p:ph type="sldNum" sz="quarter" idx="12"/>
          </p:nvPr>
        </p:nvSpPr>
        <p:spPr/>
        <p:txBody>
          <a:bodyPr/>
          <a:lstStyle/>
          <a:p>
            <a:fld id="{C905212E-7E47-46B0-BE65-5B75620CD287}" type="slidenum">
              <a:rPr lang="en-IN" smtClean="0"/>
              <a:t>‹#›</a:t>
            </a:fld>
            <a:endParaRPr lang="en-IN"/>
          </a:p>
        </p:txBody>
      </p:sp>
      <p:sp>
        <p:nvSpPr>
          <p:cNvPr id="6"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2063944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905212E-7E47-46B0-BE65-5B75620CD287}" type="slidenum">
              <a:rPr lang="en-IN" smtClean="0"/>
              <a:t>‹#›</a:t>
            </a:fld>
            <a:endParaRPr lang="en-IN"/>
          </a:p>
        </p:txBody>
      </p:sp>
      <p:sp>
        <p:nvSpPr>
          <p:cNvPr id="5"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2031651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905212E-7E47-46B0-BE65-5B75620CD287}" type="slidenum">
              <a:rPr lang="en-IN" smtClean="0"/>
              <a:t>‹#›</a:t>
            </a:fld>
            <a:endParaRPr lang="en-IN"/>
          </a:p>
        </p:txBody>
      </p:sp>
      <p:sp>
        <p:nvSpPr>
          <p:cNvPr id="8"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2540440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Slide Number Placeholder 6"/>
          <p:cNvSpPr>
            <a:spLocks noGrp="1"/>
          </p:cNvSpPr>
          <p:nvPr>
            <p:ph type="sldNum" sz="quarter" idx="12"/>
          </p:nvPr>
        </p:nvSpPr>
        <p:spPr/>
        <p:txBody>
          <a:bodyPr/>
          <a:lstStyle/>
          <a:p>
            <a:fld id="{C905212E-7E47-46B0-BE65-5B75620CD287}" type="slidenum">
              <a:rPr lang="en-IN" smtClean="0"/>
              <a:t>‹#›</a:t>
            </a:fld>
            <a:endParaRPr lang="en-IN"/>
          </a:p>
        </p:txBody>
      </p:sp>
      <p:sp>
        <p:nvSpPr>
          <p:cNvPr id="8"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2563726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p:txBody>
          <a:bodyPr/>
          <a:lstStyle/>
          <a:p>
            <a:fld id="{C905212E-7E47-46B0-BE65-5B75620CD287}" type="slidenum">
              <a:rPr lang="en-IN" smtClean="0"/>
              <a:t>‹#›</a:t>
            </a:fld>
            <a:endParaRPr lang="en-IN"/>
          </a:p>
        </p:txBody>
      </p:sp>
      <p:sp>
        <p:nvSpPr>
          <p:cNvPr id="7"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446028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p:txBody>
          <a:bodyPr/>
          <a:lstStyle/>
          <a:p>
            <a:fld id="{C905212E-7E47-46B0-BE65-5B75620CD287}" type="slidenum">
              <a:rPr lang="en-IN" smtClean="0"/>
              <a:t>‹#›</a:t>
            </a:fld>
            <a:endParaRPr lang="en-IN"/>
          </a:p>
        </p:txBody>
      </p:sp>
      <p:sp>
        <p:nvSpPr>
          <p:cNvPr id="7" name="Footer Placeholder 3"/>
          <p:cNvSpPr txBox="1">
            <a:spLocks/>
          </p:cNvSpPr>
          <p:nvPr userDrawn="1"/>
        </p:nvSpPr>
        <p:spPr>
          <a:xfrm>
            <a:off x="1285315" y="6237027"/>
            <a:ext cx="1703294" cy="58427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t>   Dilip Kumar  </a:t>
            </a:r>
            <a:endParaRPr lang="en-IN" dirty="0"/>
          </a:p>
        </p:txBody>
      </p:sp>
    </p:spTree>
    <p:extLst>
      <p:ext uri="{BB962C8B-B14F-4D97-AF65-F5344CB8AC3E}">
        <p14:creationId xmlns:p14="http://schemas.microsoft.com/office/powerpoint/2010/main" val="3477080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12192000" cy="1142999"/>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0" y="1358153"/>
            <a:ext cx="12192000" cy="4975412"/>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Slide Number Placeholder 5"/>
          <p:cNvSpPr>
            <a:spLocks noGrp="1"/>
          </p:cNvSpPr>
          <p:nvPr>
            <p:ph type="sldNum" sz="quarter" idx="4"/>
          </p:nvPr>
        </p:nvSpPr>
        <p:spPr>
          <a:xfrm>
            <a:off x="9448800" y="648876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05212E-7E47-46B0-BE65-5B75620CD287}" type="slidenum">
              <a:rPr lang="en-IN" smtClean="0"/>
              <a:t>‹#›</a:t>
            </a:fld>
            <a:endParaRPr lang="en-IN"/>
          </a:p>
        </p:txBody>
      </p:sp>
    </p:spTree>
    <p:extLst>
      <p:ext uri="{BB962C8B-B14F-4D97-AF65-F5344CB8AC3E}">
        <p14:creationId xmlns:p14="http://schemas.microsoft.com/office/powerpoint/2010/main" val="26860021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Slide Number Placeholder 1"/>
          <p:cNvSpPr>
            <a:spLocks noGrp="1"/>
          </p:cNvSpPr>
          <p:nvPr>
            <p:ph type="sldNum" sz="quarter" idx="4294967295"/>
          </p:nvPr>
        </p:nvSpPr>
        <p:spPr bwMode="auto">
          <a:xfrm>
            <a:off x="5369257" y="6467475"/>
            <a:ext cx="2743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fld id="{B5ADE5AC-5713-4BA9-B4C4-0A1BA6781C15}" type="slidenum">
              <a:rPr lang="en-US" smtClean="0"/>
              <a:pPr algn="ctr" eaLnBrk="1" hangingPunct="1"/>
              <a:t>1</a:t>
            </a:fld>
            <a:endParaRPr lang="en-US" dirty="0"/>
          </a:p>
        </p:txBody>
      </p:sp>
      <p:sp>
        <p:nvSpPr>
          <p:cNvPr id="2" name="Rectangle 1">
            <a:extLst>
              <a:ext uri="{FF2B5EF4-FFF2-40B4-BE49-F238E27FC236}">
                <a16:creationId xmlns:a16="http://schemas.microsoft.com/office/drawing/2014/main" id="{E4A72D6A-0E84-16BD-02B5-DB5A2E068FB1}"/>
              </a:ext>
            </a:extLst>
          </p:cNvPr>
          <p:cNvSpPr/>
          <p:nvPr/>
        </p:nvSpPr>
        <p:spPr>
          <a:xfrm>
            <a:off x="1439917" y="1965434"/>
            <a:ext cx="8734097" cy="252773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solidFill>
                  <a:schemeClr val="tx1"/>
                </a:solidFill>
              </a:rPr>
              <a:t>Cyber Security and Ethical Hacking</a:t>
            </a:r>
          </a:p>
        </p:txBody>
      </p:sp>
    </p:spTree>
    <p:extLst>
      <p:ext uri="{BB962C8B-B14F-4D97-AF65-F5344CB8AC3E}">
        <p14:creationId xmlns:p14="http://schemas.microsoft.com/office/powerpoint/2010/main" val="1718262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Types of Blockchain Development</a:t>
            </a:r>
            <a:endParaRPr lang="en-IN" dirty="0"/>
          </a:p>
        </p:txBody>
      </p:sp>
      <p:sp>
        <p:nvSpPr>
          <p:cNvPr id="3" name="Subtitle 2"/>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IN" b="1" dirty="0">
                <a:latin typeface="Times New Roman" panose="02020603050405020304" pitchFamily="18" charset="0"/>
                <a:cs typeface="Times New Roman" panose="02020603050405020304" pitchFamily="18" charset="0"/>
              </a:rPr>
              <a:t>Core:</a:t>
            </a:r>
          </a:p>
          <a:p>
            <a:pPr algn="l">
              <a:lnSpc>
                <a:spcPct val="150000"/>
              </a:lnSpc>
              <a:spcBef>
                <a:spcPts val="0"/>
              </a:spcBef>
            </a:pPr>
            <a:r>
              <a:rPr lang="en-IN" dirty="0">
                <a:latin typeface="Times New Roman" panose="02020603050405020304" pitchFamily="18" charset="0"/>
                <a:cs typeface="Times New Roman" panose="02020603050405020304" pitchFamily="18" charset="0"/>
              </a:rPr>
              <a:t>Core developer write the code for a blockchain client. </a:t>
            </a:r>
          </a:p>
          <a:p>
            <a:pPr algn="l">
              <a:lnSpc>
                <a:spcPct val="150000"/>
              </a:lnSpc>
              <a:spcBef>
                <a:spcPts val="0"/>
              </a:spcBef>
            </a:pPr>
            <a:r>
              <a:rPr lang="en-IN" dirty="0">
                <a:latin typeface="Times New Roman" panose="02020603050405020304" pitchFamily="18" charset="0"/>
                <a:cs typeface="Times New Roman" panose="02020603050405020304" pitchFamily="18" charset="0"/>
              </a:rPr>
              <a:t>Low-level programming languages are used in writing blockchain clients.</a:t>
            </a:r>
          </a:p>
          <a:p>
            <a:pPr algn="l">
              <a:lnSpc>
                <a:spcPct val="150000"/>
              </a:lnSpc>
              <a:spcBef>
                <a:spcPts val="0"/>
              </a:spcBef>
            </a:pPr>
            <a:r>
              <a:rPr lang="en-IN" b="1" dirty="0">
                <a:latin typeface="Times New Roman" panose="02020603050405020304" pitchFamily="18" charset="0"/>
                <a:cs typeface="Times New Roman" panose="02020603050405020304" pitchFamily="18" charset="0"/>
              </a:rPr>
              <a:t>Dapp:</a:t>
            </a:r>
          </a:p>
          <a:p>
            <a:pPr algn="l">
              <a:lnSpc>
                <a:spcPct val="150000"/>
              </a:lnSpc>
              <a:spcBef>
                <a:spcPts val="0"/>
              </a:spcBef>
            </a:pPr>
            <a:r>
              <a:rPr lang="en-IN" dirty="0">
                <a:latin typeface="Times New Roman" panose="02020603050405020304" pitchFamily="18" charset="0"/>
                <a:cs typeface="Times New Roman" panose="02020603050405020304" pitchFamily="18" charset="0"/>
              </a:rPr>
              <a:t>Blockchain app developer is what most of blockchain developer do and it is what most people usually refer to when they mention blockchain development.</a:t>
            </a:r>
          </a:p>
          <a:p>
            <a:pPr algn="l">
              <a:lnSpc>
                <a:spcPct val="150000"/>
              </a:lnSpc>
              <a:spcBef>
                <a:spcPts val="0"/>
              </a:spcBef>
            </a:pPr>
            <a:r>
              <a:rPr lang="en-IN" dirty="0">
                <a:latin typeface="Times New Roman" panose="02020603050405020304" pitchFamily="18" charset="0"/>
                <a:cs typeface="Times New Roman" panose="02020603050405020304" pitchFamily="18" charset="0"/>
              </a:rPr>
              <a:t>Here we build apps on top of a blockchain client instead of creating a whole blockchain from scratch.</a:t>
            </a:r>
            <a:endParaRPr lang="en-IN"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905212E-7E47-46B0-BE65-5B75620CD287}" type="slidenum">
              <a:rPr lang="en-IN" smtClean="0"/>
              <a:t>2</a:t>
            </a:fld>
            <a:endParaRPr lang="en-IN"/>
          </a:p>
        </p:txBody>
      </p:sp>
    </p:spTree>
    <p:extLst>
      <p:ext uri="{BB962C8B-B14F-4D97-AF65-F5344CB8AC3E}">
        <p14:creationId xmlns:p14="http://schemas.microsoft.com/office/powerpoint/2010/main" val="568927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Ethereum Blockchain</a:t>
            </a:r>
            <a:endParaRPr lang="en-IN" dirty="0"/>
          </a:p>
        </p:txBody>
      </p:sp>
      <p:sp>
        <p:nvSpPr>
          <p:cNvPr id="3" name="Subtitle 2"/>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Ethereum blockchain is very popular.</a:t>
            </a:r>
          </a:p>
          <a:p>
            <a:pPr marL="342900" indent="-342900" algn="l">
              <a:lnSpc>
                <a:spcPct val="15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Many promising blockchains such as Binance smart chain and the Tron blockchain are based on the Ethereum technology.</a:t>
            </a:r>
          </a:p>
        </p:txBody>
      </p:sp>
      <p:sp>
        <p:nvSpPr>
          <p:cNvPr id="5" name="Slide Number Placeholder 4"/>
          <p:cNvSpPr>
            <a:spLocks noGrp="1"/>
          </p:cNvSpPr>
          <p:nvPr>
            <p:ph type="sldNum" sz="quarter" idx="12"/>
          </p:nvPr>
        </p:nvSpPr>
        <p:spPr/>
        <p:txBody>
          <a:bodyPr/>
          <a:lstStyle/>
          <a:p>
            <a:fld id="{C905212E-7E47-46B0-BE65-5B75620CD287}" type="slidenum">
              <a:rPr lang="en-IN" smtClean="0"/>
              <a:t>3</a:t>
            </a:fld>
            <a:endParaRPr lang="en-IN"/>
          </a:p>
        </p:txBody>
      </p:sp>
      <p:pic>
        <p:nvPicPr>
          <p:cNvPr id="6" name="Picture 5">
            <a:extLst>
              <a:ext uri="{FF2B5EF4-FFF2-40B4-BE49-F238E27FC236}">
                <a16:creationId xmlns:a16="http://schemas.microsoft.com/office/drawing/2014/main" id="{FD320E36-6900-82B4-A8CD-A35B31FC668F}"/>
              </a:ext>
            </a:extLst>
          </p:cNvPr>
          <p:cNvPicPr>
            <a:picLocks noChangeAspect="1"/>
          </p:cNvPicPr>
          <p:nvPr/>
        </p:nvPicPr>
        <p:blipFill>
          <a:blip r:embed="rId2"/>
          <a:stretch>
            <a:fillRect/>
          </a:stretch>
        </p:blipFill>
        <p:spPr>
          <a:xfrm>
            <a:off x="5758803" y="2659118"/>
            <a:ext cx="2633847" cy="3850352"/>
          </a:xfrm>
          <a:prstGeom prst="rect">
            <a:avLst/>
          </a:prstGeom>
          <a:effectLst>
            <a:softEdge rad="63500"/>
          </a:effectLst>
        </p:spPr>
      </p:pic>
    </p:spTree>
    <p:extLst>
      <p:ext uri="{BB962C8B-B14F-4D97-AF65-F5344CB8AC3E}">
        <p14:creationId xmlns:p14="http://schemas.microsoft.com/office/powerpoint/2010/main" val="17015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EC95B-FE1F-4CB5-1BD9-F874AD095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F4DDA2-29F7-2FE4-5A99-7645CE2D6D44}"/>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Ethereum Virtual Machine</a:t>
            </a:r>
            <a:endParaRPr lang="en-IN" dirty="0"/>
          </a:p>
        </p:txBody>
      </p:sp>
      <p:sp>
        <p:nvSpPr>
          <p:cNvPr id="3" name="Subtitle 2">
            <a:extLst>
              <a:ext uri="{FF2B5EF4-FFF2-40B4-BE49-F238E27FC236}">
                <a16:creationId xmlns:a16="http://schemas.microsoft.com/office/drawing/2014/main" id="{9587E22B-9E82-6739-20EA-2D7420A5108A}"/>
              </a:ext>
            </a:extLst>
          </p:cNvPr>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Ethereum Virtual Machine is the </a:t>
            </a:r>
            <a:r>
              <a:rPr lang="en-US" b="1" dirty="0">
                <a:latin typeface="Times New Roman" panose="02020603050405020304" pitchFamily="18" charset="0"/>
                <a:cs typeface="Times New Roman" panose="02020603050405020304" pitchFamily="18" charset="0"/>
              </a:rPr>
              <a:t>software platform </a:t>
            </a:r>
            <a:r>
              <a:rPr lang="en-US" dirty="0">
                <a:latin typeface="Times New Roman" panose="02020603050405020304" pitchFamily="18" charset="0"/>
                <a:cs typeface="Times New Roman" panose="02020603050405020304" pitchFamily="18" charset="0"/>
              </a:rPr>
              <a:t>that developers can use to create decentralized application (D. Apps) on Ethereum.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virtual machine is where all Ethereum accounts and smart contracts live.</a:t>
            </a:r>
          </a:p>
        </p:txBody>
      </p:sp>
      <p:sp>
        <p:nvSpPr>
          <p:cNvPr id="5" name="Slide Number Placeholder 4">
            <a:extLst>
              <a:ext uri="{FF2B5EF4-FFF2-40B4-BE49-F238E27FC236}">
                <a16:creationId xmlns:a16="http://schemas.microsoft.com/office/drawing/2014/main" id="{E7136F12-1048-36B2-D796-8832CD9000E8}"/>
              </a:ext>
            </a:extLst>
          </p:cNvPr>
          <p:cNvSpPr>
            <a:spLocks noGrp="1"/>
          </p:cNvSpPr>
          <p:nvPr>
            <p:ph type="sldNum" sz="quarter" idx="12"/>
          </p:nvPr>
        </p:nvSpPr>
        <p:spPr/>
        <p:txBody>
          <a:bodyPr/>
          <a:lstStyle/>
          <a:p>
            <a:fld id="{C905212E-7E47-46B0-BE65-5B75620CD287}" type="slidenum">
              <a:rPr lang="en-IN" smtClean="0"/>
              <a:t>4</a:t>
            </a:fld>
            <a:endParaRPr lang="en-IN"/>
          </a:p>
        </p:txBody>
      </p:sp>
    </p:spTree>
    <p:extLst>
      <p:ext uri="{BB962C8B-B14F-4D97-AF65-F5344CB8AC3E}">
        <p14:creationId xmlns:p14="http://schemas.microsoft.com/office/powerpoint/2010/main" val="3461080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C2EE0-88A0-6257-AB2E-54F31440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C59D7-6D86-A272-3F84-331E22FC3AEC}"/>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Smart Contracts</a:t>
            </a:r>
            <a:endParaRPr lang="en-IN" dirty="0"/>
          </a:p>
        </p:txBody>
      </p:sp>
      <p:sp>
        <p:nvSpPr>
          <p:cNvPr id="3" name="Subtitle 2">
            <a:extLst>
              <a:ext uri="{FF2B5EF4-FFF2-40B4-BE49-F238E27FC236}">
                <a16:creationId xmlns:a16="http://schemas.microsoft.com/office/drawing/2014/main" id="{B2DBC461-240B-ADD1-617C-186D05229A7B}"/>
              </a:ext>
            </a:extLst>
          </p:cNvPr>
          <p:cNvSpPr>
            <a:spLocks noGrp="1"/>
          </p:cNvSpPr>
          <p:nvPr>
            <p:ph type="subTitle" idx="1"/>
          </p:nvPr>
        </p:nvSpPr>
        <p:spPr>
          <a:xfrm>
            <a:off x="0" y="1392072"/>
            <a:ext cx="12191999" cy="5465928"/>
          </a:xfrm>
        </p:spPr>
        <p:txBody>
          <a:bodyPr>
            <a:normAutofit fontScale="92500"/>
          </a:bodyPr>
          <a:lstStyle/>
          <a:p>
            <a:pPr marL="342900" indent="-342900" algn="l">
              <a:lnSpc>
                <a:spcPct val="15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Smart contract is a </a:t>
            </a:r>
            <a:r>
              <a:rPr lang="en-IN" b="1" dirty="0">
                <a:latin typeface="Times New Roman" panose="02020603050405020304" pitchFamily="18" charset="0"/>
                <a:cs typeface="Times New Roman" panose="02020603050405020304" pitchFamily="18" charset="0"/>
              </a:rPr>
              <a:t>program</a:t>
            </a:r>
            <a:r>
              <a:rPr lang="en-IN" dirty="0">
                <a:latin typeface="Times New Roman" panose="02020603050405020304" pitchFamily="18" charset="0"/>
                <a:cs typeface="Times New Roman" panose="02020603050405020304" pitchFamily="18" charset="0"/>
              </a:rPr>
              <a:t> that lives on top of the blockchain and constitutes a set of rules agreed upon by the involved parties.</a:t>
            </a:r>
          </a:p>
          <a:p>
            <a:pPr marL="342900" indent="-342900" algn="l">
              <a:lnSpc>
                <a:spcPct val="15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After the execution, if these set of rules are met, the smart contract executes itself to give an output.</a:t>
            </a:r>
          </a:p>
          <a:p>
            <a:pPr marL="342900" indent="-342900" algn="l">
              <a:lnSpc>
                <a:spcPct val="15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program enables decentralized automation by facilitating, verifying, and enforcing the conditions of an underlying agreement.</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self-executing feature of a smart contract is what makes it very important.</a:t>
            </a:r>
            <a:endParaRPr lang="en-IN"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 contracts are</a:t>
            </a:r>
            <a:r>
              <a:rPr lang="en-US" b="1" dirty="0">
                <a:latin typeface="Times New Roman" panose="02020603050405020304" pitchFamily="18" charset="0"/>
                <a:cs typeface="Times New Roman" panose="02020603050405020304" pitchFamily="18" charset="0"/>
              </a:rPr>
              <a:t> stored on a blockchain that run when predetermined conditions are met.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They typically are used to automate the execution of an agreement so that all participants can be immediately certain of the outcome, without any intermediary's involvement or time loss.</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Solana blockchain uses rust for smart contract.</a:t>
            </a:r>
          </a:p>
        </p:txBody>
      </p:sp>
      <p:sp>
        <p:nvSpPr>
          <p:cNvPr id="5" name="Slide Number Placeholder 4">
            <a:extLst>
              <a:ext uri="{FF2B5EF4-FFF2-40B4-BE49-F238E27FC236}">
                <a16:creationId xmlns:a16="http://schemas.microsoft.com/office/drawing/2014/main" id="{CDB41FCA-3C3F-0BC0-27F4-ADF4A2A30FB5}"/>
              </a:ext>
            </a:extLst>
          </p:cNvPr>
          <p:cNvSpPr>
            <a:spLocks noGrp="1"/>
          </p:cNvSpPr>
          <p:nvPr>
            <p:ph type="sldNum" sz="quarter" idx="12"/>
          </p:nvPr>
        </p:nvSpPr>
        <p:spPr/>
        <p:txBody>
          <a:bodyPr/>
          <a:lstStyle/>
          <a:p>
            <a:fld id="{C905212E-7E47-46B0-BE65-5B75620CD287}" type="slidenum">
              <a:rPr lang="en-IN" smtClean="0"/>
              <a:t>5</a:t>
            </a:fld>
            <a:endParaRPr lang="en-IN"/>
          </a:p>
        </p:txBody>
      </p:sp>
    </p:spTree>
    <p:extLst>
      <p:ext uri="{BB962C8B-B14F-4D97-AF65-F5344CB8AC3E}">
        <p14:creationId xmlns:p14="http://schemas.microsoft.com/office/powerpoint/2010/main" val="343259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FBF41-699A-5189-7DB2-1BB597899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05289-9223-A9CB-58D2-A30685C57104}"/>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Ethereum Networks</a:t>
            </a:r>
            <a:endParaRPr lang="en-IN" dirty="0"/>
          </a:p>
        </p:txBody>
      </p:sp>
      <p:sp>
        <p:nvSpPr>
          <p:cNvPr id="3" name="Subtitle 2">
            <a:extLst>
              <a:ext uri="{FF2B5EF4-FFF2-40B4-BE49-F238E27FC236}">
                <a16:creationId xmlns:a16="http://schemas.microsoft.com/office/drawing/2014/main" id="{AA029F0B-5D62-08F8-412F-1131E5091B2F}"/>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1. MAIN NET:</a:t>
            </a:r>
            <a:r>
              <a:rPr lang="en-US" dirty="0">
                <a:latin typeface="Times New Roman" panose="02020603050405020304" pitchFamily="18" charset="0"/>
                <a:cs typeface="Times New Roman" panose="02020603050405020304" pitchFamily="18" charset="0"/>
              </a:rPr>
              <a:t> Actual bitcoin transfer, actually whatever application running on </a:t>
            </a:r>
            <a:r>
              <a:rPr lang="en-US" dirty="0" err="1">
                <a:latin typeface="Times New Roman" panose="02020603050405020304" pitchFamily="18" charset="0"/>
                <a:cs typeface="Times New Roman" panose="02020603050405020304" pitchFamily="18" charset="0"/>
              </a:rPr>
              <a:t>ethereum</a:t>
            </a:r>
            <a:r>
              <a:rPr lang="en-US" dirty="0">
                <a:latin typeface="Times New Roman" panose="02020603050405020304" pitchFamily="18" charset="0"/>
                <a:cs typeface="Times New Roman" panose="02020603050405020304" pitchFamily="18" charset="0"/>
              </a:rPr>
              <a:t>. whatever really accessing or having real values/expand some money.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real transaction broadcast.</a:t>
            </a:r>
          </a:p>
          <a:p>
            <a:pPr algn="l">
              <a:lnSpc>
                <a:spcPct val="150000"/>
              </a:lnSpc>
              <a:spcBef>
                <a:spcPts val="0"/>
              </a:spcBef>
            </a:pPr>
            <a:r>
              <a:rPr lang="en-US" dirty="0">
                <a:latin typeface="Times New Roman" panose="02020603050405020304" pitchFamily="18" charset="0"/>
                <a:cs typeface="Times New Roman" panose="02020603050405020304" pitchFamily="18" charset="0"/>
              </a:rPr>
              <a:t>Rest both (</a:t>
            </a:r>
            <a:r>
              <a:rPr lang="en-US" dirty="0" err="1">
                <a:latin typeface="Times New Roman" panose="02020603050405020304" pitchFamily="18" charset="0"/>
                <a:cs typeface="Times New Roman" panose="02020603050405020304" pitchFamily="18" charset="0"/>
              </a:rPr>
              <a:t>TestNet</a:t>
            </a:r>
            <a:r>
              <a:rPr lang="en-US" dirty="0">
                <a:latin typeface="Times New Roman" panose="02020603050405020304" pitchFamily="18" charset="0"/>
                <a:cs typeface="Times New Roman" panose="02020603050405020304" pitchFamily="18" charset="0"/>
              </a:rPr>
              <a:t> &amp; Local Blockchain) for test purpose.</a:t>
            </a: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a:p>
            <a:pPr algn="l">
              <a:lnSpc>
                <a:spcPct val="150000"/>
              </a:lnSpc>
              <a:spcBef>
                <a:spcPts val="0"/>
              </a:spcBef>
            </a:pPr>
            <a:r>
              <a:rPr lang="en-US" b="1" dirty="0">
                <a:latin typeface="Times New Roman" panose="02020603050405020304" pitchFamily="18" charset="0"/>
                <a:cs typeface="Times New Roman" panose="02020603050405020304" pitchFamily="18" charset="0"/>
              </a:rPr>
              <a:t>2. TEST NET: </a:t>
            </a:r>
            <a:r>
              <a:rPr lang="en-US" dirty="0">
                <a:latin typeface="Times New Roman" panose="02020603050405020304" pitchFamily="18" charset="0"/>
                <a:cs typeface="Times New Roman" panose="02020603050405020304" pitchFamily="18" charset="0"/>
              </a:rPr>
              <a:t>for testing purpose, before deploying blockchain into MAIN NET.</a:t>
            </a:r>
          </a:p>
          <a:p>
            <a:pPr algn="l">
              <a:lnSpc>
                <a:spcPct val="150000"/>
              </a:lnSpc>
              <a:spcBef>
                <a:spcPts val="0"/>
              </a:spcBef>
            </a:pPr>
            <a:r>
              <a:rPr lang="en-US" dirty="0">
                <a:latin typeface="Times New Roman" panose="02020603050405020304" pitchFamily="18" charset="0"/>
                <a:cs typeface="Times New Roman" panose="02020603050405020304" pitchFamily="18" charset="0"/>
              </a:rPr>
              <a:t>Test Net doesn't require real ether.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Test Net of Ethereum are </a:t>
            </a:r>
            <a:r>
              <a:rPr lang="en-US" dirty="0" err="1">
                <a:latin typeface="Times New Roman" panose="02020603050405020304" pitchFamily="18" charset="0"/>
                <a:cs typeface="Times New Roman" panose="02020603050405020304" pitchFamily="18" charset="0"/>
              </a:rPr>
              <a:t>Rinkeby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Ropsten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Goerli</a:t>
            </a:r>
            <a:r>
              <a:rPr lang="en-US" dirty="0">
                <a:latin typeface="Times New Roman" panose="02020603050405020304" pitchFamily="18" charset="0"/>
                <a:cs typeface="Times New Roman" panose="02020603050405020304" pitchFamily="18" charset="0"/>
              </a:rPr>
              <a:t>, Kovan.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Open online website, search&gt;&gt;</a:t>
            </a:r>
            <a:r>
              <a:rPr lang="en-US" dirty="0" err="1">
                <a:latin typeface="Times New Roman" panose="02020603050405020304" pitchFamily="18" charset="0"/>
                <a:cs typeface="Times New Roman" panose="02020603050405020304" pitchFamily="18" charset="0"/>
              </a:rPr>
              <a:t>foset</a:t>
            </a:r>
            <a:r>
              <a:rPr lang="en-US" dirty="0">
                <a:latin typeface="Times New Roman" panose="02020603050405020304" pitchFamily="18" charset="0"/>
                <a:cs typeface="Times New Roman" panose="02020603050405020304" pitchFamily="18" charset="0"/>
              </a:rPr>
              <a:t> for fake ether.</a:t>
            </a: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294AE70-9040-0215-0F19-514D47297552}"/>
              </a:ext>
            </a:extLst>
          </p:cNvPr>
          <p:cNvSpPr>
            <a:spLocks noGrp="1"/>
          </p:cNvSpPr>
          <p:nvPr>
            <p:ph type="sldNum" sz="quarter" idx="12"/>
          </p:nvPr>
        </p:nvSpPr>
        <p:spPr/>
        <p:txBody>
          <a:bodyPr/>
          <a:lstStyle/>
          <a:p>
            <a:fld id="{C905212E-7E47-46B0-BE65-5B75620CD287}" type="slidenum">
              <a:rPr lang="en-IN" smtClean="0"/>
              <a:t>6</a:t>
            </a:fld>
            <a:endParaRPr lang="en-IN"/>
          </a:p>
        </p:txBody>
      </p:sp>
    </p:spTree>
    <p:extLst>
      <p:ext uri="{BB962C8B-B14F-4D97-AF65-F5344CB8AC3E}">
        <p14:creationId xmlns:p14="http://schemas.microsoft.com/office/powerpoint/2010/main" val="371545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24CA3-4502-840A-C700-4AA41F6FF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EF463-3963-C908-9AFA-AD9E0BD4154A}"/>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Ethereum Networks</a:t>
            </a:r>
            <a:endParaRPr lang="en-IN" dirty="0"/>
          </a:p>
        </p:txBody>
      </p:sp>
      <p:sp>
        <p:nvSpPr>
          <p:cNvPr id="3" name="Subtitle 2">
            <a:extLst>
              <a:ext uri="{FF2B5EF4-FFF2-40B4-BE49-F238E27FC236}">
                <a16:creationId xmlns:a16="http://schemas.microsoft.com/office/drawing/2014/main" id="{A705BC34-59A1-202F-44F6-D4A05E1D64A1}"/>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3. LOCAL BLOCKCHAIN: </a:t>
            </a:r>
            <a:r>
              <a:rPr lang="en-US" dirty="0">
                <a:latin typeface="Times New Roman" panose="02020603050405020304" pitchFamily="18" charset="0"/>
                <a:cs typeface="Times New Roman" panose="02020603050405020304" pitchFamily="18" charset="0"/>
              </a:rPr>
              <a:t>Run locally. unlike </a:t>
            </a:r>
            <a:r>
              <a:rPr lang="en-US" dirty="0" err="1">
                <a:latin typeface="Times New Roman" panose="02020603050405020304" pitchFamily="18" charset="0"/>
                <a:cs typeface="Times New Roman" panose="02020603050405020304" pitchFamily="18" charset="0"/>
              </a:rPr>
              <a:t>MainNet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TestNet</a:t>
            </a:r>
            <a:r>
              <a:rPr lang="en-US" dirty="0">
                <a:latin typeface="Times New Roman" panose="02020603050405020304" pitchFamily="18" charset="0"/>
                <a:cs typeface="Times New Roman" panose="02020603050405020304" pitchFamily="18" charset="0"/>
              </a:rPr>
              <a:t>, local blockchain can not be accessible from anywhere.</a:t>
            </a:r>
          </a:p>
          <a:p>
            <a:pPr algn="l">
              <a:lnSpc>
                <a:spcPct val="150000"/>
              </a:lnSpc>
              <a:spcBef>
                <a:spcPts val="0"/>
              </a:spcBef>
            </a:pPr>
            <a:r>
              <a:rPr lang="en-US" dirty="0">
                <a:latin typeface="Times New Roman" panose="02020603050405020304" pitchFamily="18" charset="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A201D82C-38F6-C7F2-4C3F-8FA978357744}"/>
              </a:ext>
            </a:extLst>
          </p:cNvPr>
          <p:cNvSpPr>
            <a:spLocks noGrp="1"/>
          </p:cNvSpPr>
          <p:nvPr>
            <p:ph type="sldNum" sz="quarter" idx="12"/>
          </p:nvPr>
        </p:nvSpPr>
        <p:spPr/>
        <p:txBody>
          <a:bodyPr/>
          <a:lstStyle/>
          <a:p>
            <a:fld id="{C905212E-7E47-46B0-BE65-5B75620CD287}" type="slidenum">
              <a:rPr lang="en-IN" smtClean="0"/>
              <a:t>7</a:t>
            </a:fld>
            <a:endParaRPr lang="en-IN"/>
          </a:p>
        </p:txBody>
      </p:sp>
      <p:pic>
        <p:nvPicPr>
          <p:cNvPr id="6" name="Picture 5">
            <a:extLst>
              <a:ext uri="{FF2B5EF4-FFF2-40B4-BE49-F238E27FC236}">
                <a16:creationId xmlns:a16="http://schemas.microsoft.com/office/drawing/2014/main" id="{2AC1CD36-56DB-3AC1-C08B-F8735D749870}"/>
              </a:ext>
            </a:extLst>
          </p:cNvPr>
          <p:cNvPicPr>
            <a:picLocks noChangeAspect="1"/>
          </p:cNvPicPr>
          <p:nvPr/>
        </p:nvPicPr>
        <p:blipFill>
          <a:blip r:embed="rId2"/>
          <a:stretch>
            <a:fillRect/>
          </a:stretch>
        </p:blipFill>
        <p:spPr>
          <a:xfrm>
            <a:off x="2858813" y="3936147"/>
            <a:ext cx="6773236" cy="2598266"/>
          </a:xfrm>
          <a:prstGeom prst="rect">
            <a:avLst/>
          </a:prstGeom>
        </p:spPr>
      </p:pic>
    </p:spTree>
    <p:extLst>
      <p:ext uri="{BB962C8B-B14F-4D97-AF65-F5344CB8AC3E}">
        <p14:creationId xmlns:p14="http://schemas.microsoft.com/office/powerpoint/2010/main" val="424181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44A5C-8ACD-9D45-1904-EDB8A741E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61DB2-3F92-7F0C-022C-281DBE4F606F}"/>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Overview</a:t>
            </a:r>
            <a:endParaRPr lang="en-IN" dirty="0"/>
          </a:p>
        </p:txBody>
      </p:sp>
      <p:sp>
        <p:nvSpPr>
          <p:cNvPr id="3" name="Subtitle 2">
            <a:extLst>
              <a:ext uri="{FF2B5EF4-FFF2-40B4-BE49-F238E27FC236}">
                <a16:creationId xmlns:a16="http://schemas.microsoft.com/office/drawing/2014/main" id="{B25B3BFB-5E16-3ED4-5FAA-60CE74C82517}"/>
              </a:ext>
            </a:extLst>
          </p:cNvPr>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is a contract-oriented, high-level programming language for implementing smart contracts. </a:t>
            </a:r>
          </a:p>
          <a:p>
            <a:pPr marL="342900" indent="-342900" algn="l">
              <a:lnSpc>
                <a:spcPct val="150000"/>
              </a:lnSpc>
              <a:spcBef>
                <a:spcPts val="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There are a couple of programming languages used in writing smart contract, but </a:t>
            </a:r>
            <a:r>
              <a:rPr lang="en-IN" b="1" dirty="0">
                <a:latin typeface="Times New Roman" panose="02020603050405020304" pitchFamily="18" charset="0"/>
                <a:cs typeface="Times New Roman" panose="02020603050405020304" pitchFamily="18" charset="0"/>
              </a:rPr>
              <a:t>solidity </a:t>
            </a:r>
            <a:r>
              <a:rPr lang="en-IN" dirty="0">
                <a:latin typeface="Times New Roman" panose="02020603050405020304" pitchFamily="18" charset="0"/>
                <a:cs typeface="Times New Roman" panose="02020603050405020304" pitchFamily="18" charset="0"/>
              </a:rPr>
              <a:t>is one that very popular.</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is highly influenced by C++, Python and JavaScript and has been designed to target the Ethereum Virtual Machine (</a:t>
            </a:r>
            <a:r>
              <a:rPr lang="en-US" dirty="0" err="1">
                <a:latin typeface="Times New Roman" panose="02020603050405020304" pitchFamily="18" charset="0"/>
                <a:cs typeface="Times New Roman" panose="02020603050405020304" pitchFamily="18" charset="0"/>
              </a:rPr>
              <a:t>EVM</a:t>
            </a:r>
            <a:r>
              <a:rPr lang="en-US" dirty="0">
                <a:latin typeface="Times New Roman" panose="02020603050405020304" pitchFamily="18" charset="0"/>
                <a:cs typeface="Times New Roman" panose="02020603050405020304" pitchFamily="18" charset="0"/>
              </a:rPr>
              <a:t>).</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is statically typed programming language.</a:t>
            </a: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1AA529B-6B4A-A354-ED05-D6ADA4A7F323}"/>
              </a:ext>
            </a:extLst>
          </p:cNvPr>
          <p:cNvSpPr>
            <a:spLocks noGrp="1"/>
          </p:cNvSpPr>
          <p:nvPr>
            <p:ph type="sldNum" sz="quarter" idx="12"/>
          </p:nvPr>
        </p:nvSpPr>
        <p:spPr/>
        <p:txBody>
          <a:bodyPr/>
          <a:lstStyle/>
          <a:p>
            <a:fld id="{C905212E-7E47-46B0-BE65-5B75620CD287}" type="slidenum">
              <a:rPr lang="en-IN" smtClean="0"/>
              <a:t>8</a:t>
            </a:fld>
            <a:endParaRPr lang="en-IN"/>
          </a:p>
        </p:txBody>
      </p:sp>
    </p:spTree>
    <p:extLst>
      <p:ext uri="{BB962C8B-B14F-4D97-AF65-F5344CB8AC3E}">
        <p14:creationId xmlns:p14="http://schemas.microsoft.com/office/powerpoint/2010/main" val="148573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9EB33-B1AA-171C-761F-84634D0648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E2BEFD-C338-1C27-4E18-F0DB3194C28B}"/>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Overview</a:t>
            </a:r>
            <a:endParaRPr lang="en-IN" dirty="0"/>
          </a:p>
        </p:txBody>
      </p:sp>
      <p:sp>
        <p:nvSpPr>
          <p:cNvPr id="3" name="Subtitle 2">
            <a:extLst>
              <a:ext uri="{FF2B5EF4-FFF2-40B4-BE49-F238E27FC236}">
                <a16:creationId xmlns:a16="http://schemas.microsoft.com/office/drawing/2014/main" id="{EC210255-8306-F1C1-E8DC-E4F74A959EEB}"/>
              </a:ext>
            </a:extLst>
          </p:cNvPr>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Smart contract using Solidity can write on web-based IDE that is Remix IDE.</a:t>
            </a:r>
          </a:p>
          <a:p>
            <a:pPr algn="l">
              <a:lnSpc>
                <a:spcPct val="150000"/>
              </a:lnSpc>
              <a:spcBef>
                <a:spcPts val="0"/>
              </a:spcBef>
            </a:pPr>
            <a:r>
              <a:rPr lang="en-IN" dirty="0">
                <a:latin typeface="Times New Roman" panose="02020603050405020304" pitchFamily="18" charset="0"/>
                <a:cs typeface="Times New Roman" panose="02020603050405020304" pitchFamily="18" charset="0"/>
              </a:rPr>
              <a:t>remix.ethereum.org</a:t>
            </a: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9EB974B-6C70-DAA8-8654-F20AC2AA4E83}"/>
              </a:ext>
            </a:extLst>
          </p:cNvPr>
          <p:cNvSpPr>
            <a:spLocks noGrp="1"/>
          </p:cNvSpPr>
          <p:nvPr>
            <p:ph type="sldNum" sz="quarter" idx="12"/>
          </p:nvPr>
        </p:nvSpPr>
        <p:spPr/>
        <p:txBody>
          <a:bodyPr/>
          <a:lstStyle/>
          <a:p>
            <a:fld id="{C905212E-7E47-46B0-BE65-5B75620CD287}" type="slidenum">
              <a:rPr lang="en-IN" smtClean="0"/>
              <a:t>9</a:t>
            </a:fld>
            <a:endParaRPr lang="en-IN"/>
          </a:p>
        </p:txBody>
      </p:sp>
      <p:pic>
        <p:nvPicPr>
          <p:cNvPr id="6" name="Picture 5">
            <a:extLst>
              <a:ext uri="{FF2B5EF4-FFF2-40B4-BE49-F238E27FC236}">
                <a16:creationId xmlns:a16="http://schemas.microsoft.com/office/drawing/2014/main" id="{1164E7B4-103D-763B-FE3B-CF75C41231FA}"/>
              </a:ext>
            </a:extLst>
          </p:cNvPr>
          <p:cNvPicPr>
            <a:picLocks noChangeAspect="1"/>
          </p:cNvPicPr>
          <p:nvPr/>
        </p:nvPicPr>
        <p:blipFill>
          <a:blip r:embed="rId2" cstate="print">
            <a:extLst>
              <a:ext uri="{28A0092B-C50C-407E-A947-70E740481C1C}">
                <a14:useLocalDpi xmlns:a14="http://schemas.microsoft.com/office/drawing/2010/main" val="0"/>
              </a:ext>
            </a:extLst>
          </a:blip>
          <a:srcRect t="10462" b="1543"/>
          <a:stretch>
            <a:fillRect/>
          </a:stretch>
        </p:blipFill>
        <p:spPr>
          <a:xfrm>
            <a:off x="2557222" y="2496208"/>
            <a:ext cx="8426087" cy="4330790"/>
          </a:xfrm>
          <a:prstGeom prst="rect">
            <a:avLst/>
          </a:prstGeom>
        </p:spPr>
      </p:pic>
    </p:spTree>
    <p:extLst>
      <p:ext uri="{BB962C8B-B14F-4D97-AF65-F5344CB8AC3E}">
        <p14:creationId xmlns:p14="http://schemas.microsoft.com/office/powerpoint/2010/main" val="2785343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9918-68AD-9C33-1FB9-F10E9C46D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8D7BF-440D-1DD1-3E5D-A82E035D6634}"/>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Code Structure</a:t>
            </a:r>
            <a:endParaRPr lang="en-IN" dirty="0"/>
          </a:p>
        </p:txBody>
      </p:sp>
      <p:sp>
        <p:nvSpPr>
          <p:cNvPr id="3" name="Subtitle 2">
            <a:extLst>
              <a:ext uri="{FF2B5EF4-FFF2-40B4-BE49-F238E27FC236}">
                <a16:creationId xmlns:a16="http://schemas.microsoft.com/office/drawing/2014/main" id="{54AE1134-A61C-5EE6-E11E-42E08C70834B}"/>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SPDX</a:t>
            </a:r>
            <a:r>
              <a:rPr lang="en-US" dirty="0">
                <a:latin typeface="Times New Roman" panose="02020603050405020304" pitchFamily="18" charset="0"/>
                <a:cs typeface="Times New Roman" panose="02020603050405020304" pitchFamily="18" charset="0"/>
              </a:rPr>
              <a:t>-License-Identifier: Unlicensed</a:t>
            </a:r>
          </a:p>
          <a:p>
            <a:pPr algn="l">
              <a:lnSpc>
                <a:spcPct val="150000"/>
              </a:lnSpc>
              <a:spcBef>
                <a:spcPts val="0"/>
              </a:spcBef>
            </a:pPr>
            <a:r>
              <a:rPr lang="en-US" dirty="0">
                <a:latin typeface="Times New Roman" panose="02020603050405020304" pitchFamily="18" charset="0"/>
                <a:cs typeface="Times New Roman" panose="02020603050405020304" pitchFamily="18" charset="0"/>
              </a:rPr>
              <a:t>pragma solidity &gt;= 0.4.0;</a:t>
            </a:r>
          </a:p>
          <a:p>
            <a:pPr algn="l">
              <a:lnSpc>
                <a:spcPct val="150000"/>
              </a:lnSpc>
              <a:spcBef>
                <a:spcPts val="0"/>
              </a:spcBef>
            </a:pPr>
            <a:r>
              <a:rPr lang="en-US" dirty="0">
                <a:latin typeface="Times New Roman" panose="02020603050405020304" pitchFamily="18" charset="0"/>
                <a:cs typeface="Times New Roman" panose="02020603050405020304" pitchFamily="18" charset="0"/>
              </a:rPr>
              <a:t>contract Basic{</a:t>
            </a:r>
          </a:p>
          <a:p>
            <a:pPr algn="l">
              <a:lnSpc>
                <a:spcPct val="150000"/>
              </a:lnSpc>
              <a:spcBef>
                <a:spcPts val="0"/>
              </a:spcBef>
            </a:pPr>
            <a:r>
              <a:rPr lang="en-US" dirty="0">
                <a:latin typeface="Times New Roman" panose="02020603050405020304" pitchFamily="18" charset="0"/>
                <a:cs typeface="Times New Roman" panose="02020603050405020304" pitchFamily="18" charset="0"/>
              </a:rPr>
              <a:t>		// Code write here...</a:t>
            </a:r>
          </a:p>
          <a:p>
            <a:pPr algn="l">
              <a:lnSpc>
                <a:spcPct val="150000"/>
              </a:lnSpc>
              <a:spcBef>
                <a:spcPts val="0"/>
              </a:spcBef>
            </a:pP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6FF69BD-DA1F-5A10-65D8-39B736FB4BBD}"/>
              </a:ext>
            </a:extLst>
          </p:cNvPr>
          <p:cNvSpPr>
            <a:spLocks noGrp="1"/>
          </p:cNvSpPr>
          <p:nvPr>
            <p:ph type="sldNum" sz="quarter" idx="12"/>
          </p:nvPr>
        </p:nvSpPr>
        <p:spPr/>
        <p:txBody>
          <a:bodyPr/>
          <a:lstStyle/>
          <a:p>
            <a:fld id="{C905212E-7E47-46B0-BE65-5B75620CD287}" type="slidenum">
              <a:rPr lang="en-IN" smtClean="0"/>
              <a:t>10</a:t>
            </a:fld>
            <a:endParaRPr lang="en-IN"/>
          </a:p>
        </p:txBody>
      </p:sp>
    </p:spTree>
    <p:extLst>
      <p:ext uri="{BB962C8B-B14F-4D97-AF65-F5344CB8AC3E}">
        <p14:creationId xmlns:p14="http://schemas.microsoft.com/office/powerpoint/2010/main" val="2169239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951D3-3FD5-D7BA-3B9B-EBE70C2D7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3B872-732A-A66C-A5D7-0CCF8032B05B}"/>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Code Structure</a:t>
            </a:r>
            <a:endParaRPr lang="en-IN" dirty="0"/>
          </a:p>
        </p:txBody>
      </p:sp>
      <p:sp>
        <p:nvSpPr>
          <p:cNvPr id="3" name="Subtitle 2">
            <a:extLst>
              <a:ext uri="{FF2B5EF4-FFF2-40B4-BE49-F238E27FC236}">
                <a16:creationId xmlns:a16="http://schemas.microsoft.com/office/drawing/2014/main" id="{AE5D6895-C5BA-5077-E5A0-E5B5C706EA3A}"/>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Pragma</a:t>
            </a:r>
          </a:p>
          <a:p>
            <a:pPr algn="l">
              <a:lnSpc>
                <a:spcPct val="150000"/>
              </a:lnSpc>
              <a:spcBef>
                <a:spcPts val="0"/>
              </a:spcBef>
            </a:pPr>
            <a:r>
              <a:rPr lang="en-US" dirty="0">
                <a:latin typeface="Times New Roman" panose="02020603050405020304" pitchFamily="18" charset="0"/>
                <a:cs typeface="Times New Roman" panose="02020603050405020304" pitchFamily="18" charset="0"/>
              </a:rPr>
              <a:t>The first line is a pragma directive which tells that the source code is written for Solidity version 0.4.0 or anything newer that does not break functionality up to, but not including, version 0.6.0.</a:t>
            </a:r>
          </a:p>
          <a:p>
            <a:pPr algn="l">
              <a:lnSpc>
                <a:spcPct val="150000"/>
              </a:lnSpc>
              <a:spcBef>
                <a:spcPts val="0"/>
              </a:spcBef>
            </a:pPr>
            <a:r>
              <a:rPr lang="en-US" dirty="0">
                <a:latin typeface="Times New Roman" panose="02020603050405020304" pitchFamily="18" charset="0"/>
                <a:cs typeface="Times New Roman" panose="02020603050405020304" pitchFamily="18" charset="0"/>
              </a:rPr>
              <a:t>A pragma directive is always local to a source file and if you import another file, the pragma from that file will not automatically apply to the importing file.</a:t>
            </a:r>
          </a:p>
          <a:p>
            <a:pPr algn="l">
              <a:lnSpc>
                <a:spcPct val="150000"/>
              </a:lnSpc>
              <a:spcBef>
                <a:spcPts val="0"/>
              </a:spcBef>
            </a:pPr>
            <a:r>
              <a:rPr lang="en-US" dirty="0">
                <a:latin typeface="Times New Roman" panose="02020603050405020304" pitchFamily="18" charset="0"/>
                <a:cs typeface="Times New Roman" panose="02020603050405020304" pitchFamily="18" charset="0"/>
              </a:rPr>
              <a:t>So, a pragma for a file which will not compile earlier than version 0.4.0 and it will also not work on a compiler starting from version 0.5.0 will be written as follows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	pragma solidity ^0.4.0;</a:t>
            </a:r>
          </a:p>
          <a:p>
            <a:pPr algn="l">
              <a:lnSpc>
                <a:spcPct val="150000"/>
              </a:lnSpc>
              <a:spcBef>
                <a:spcPts val="0"/>
              </a:spcBef>
            </a:pPr>
            <a:r>
              <a:rPr lang="en-US" dirty="0">
                <a:latin typeface="Times New Roman" panose="02020603050405020304" pitchFamily="18" charset="0"/>
                <a:cs typeface="Times New Roman" panose="02020603050405020304" pitchFamily="18" charset="0"/>
              </a:rPr>
              <a:t>Here the second condition is added by using ^.</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5B0BB80-6D47-669F-7082-F88AA00BA7EA}"/>
              </a:ext>
            </a:extLst>
          </p:cNvPr>
          <p:cNvSpPr>
            <a:spLocks noGrp="1"/>
          </p:cNvSpPr>
          <p:nvPr>
            <p:ph type="sldNum" sz="quarter" idx="12"/>
          </p:nvPr>
        </p:nvSpPr>
        <p:spPr/>
        <p:txBody>
          <a:bodyPr/>
          <a:lstStyle/>
          <a:p>
            <a:fld id="{C905212E-7E47-46B0-BE65-5B75620CD287}" type="slidenum">
              <a:rPr lang="en-IN" smtClean="0"/>
              <a:t>11</a:t>
            </a:fld>
            <a:endParaRPr lang="en-IN"/>
          </a:p>
        </p:txBody>
      </p:sp>
    </p:spTree>
    <p:extLst>
      <p:ext uri="{BB962C8B-B14F-4D97-AF65-F5344CB8AC3E}">
        <p14:creationId xmlns:p14="http://schemas.microsoft.com/office/powerpoint/2010/main" val="2551773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00133-E5BC-D535-2233-5B452C4C25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621962-4395-BD86-827B-DCB8FFBE2DB6}"/>
              </a:ext>
            </a:extLst>
          </p:cNvPr>
          <p:cNvSpPr>
            <a:spLocks noGrp="1"/>
          </p:cNvSpPr>
          <p:nvPr>
            <p:ph type="ctrTitle"/>
          </p:nvPr>
        </p:nvSpPr>
        <p:spPr>
          <a:xfrm>
            <a:off x="0" y="10367"/>
            <a:ext cx="12192000" cy="1350702"/>
          </a:xfrm>
        </p:spPr>
        <p:txBody>
          <a:bodyPr/>
          <a:lstStyle/>
          <a:p>
            <a:r>
              <a:rPr lang="en-IN" dirty="0">
                <a:latin typeface="Times New Roman" panose="02020603050405020304" pitchFamily="18" charset="0"/>
                <a:cs typeface="Times New Roman" panose="02020603050405020304" pitchFamily="18" charset="0"/>
              </a:rPr>
              <a:t>Version</a:t>
            </a:r>
            <a:r>
              <a:rPr lang="en-IN" dirty="0"/>
              <a:t> </a:t>
            </a:r>
            <a:r>
              <a:rPr lang="en-IN" dirty="0">
                <a:latin typeface="Times New Roman" panose="02020603050405020304" pitchFamily="18" charset="0"/>
                <a:cs typeface="Times New Roman" panose="02020603050405020304" pitchFamily="18" charset="0"/>
              </a:rPr>
              <a:t>Discussion</a:t>
            </a:r>
          </a:p>
        </p:txBody>
      </p:sp>
      <p:sp>
        <p:nvSpPr>
          <p:cNvPr id="3" name="Subtitle 2">
            <a:extLst>
              <a:ext uri="{FF2B5EF4-FFF2-40B4-BE49-F238E27FC236}">
                <a16:creationId xmlns:a16="http://schemas.microsoft.com/office/drawing/2014/main" id="{B7185529-D658-941F-1123-4A3A4ACDAB6D}"/>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endParaRPr lang="en-IN"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2D9BA4C-ECC6-D170-803A-DC4EF85FCA74}"/>
              </a:ext>
            </a:extLst>
          </p:cNvPr>
          <p:cNvSpPr>
            <a:spLocks noGrp="1"/>
          </p:cNvSpPr>
          <p:nvPr>
            <p:ph type="sldNum" sz="quarter" idx="12"/>
          </p:nvPr>
        </p:nvSpPr>
        <p:spPr/>
        <p:txBody>
          <a:bodyPr/>
          <a:lstStyle/>
          <a:p>
            <a:fld id="{C905212E-7E47-46B0-BE65-5B75620CD287}" type="slidenum">
              <a:rPr lang="en-IN" smtClean="0"/>
              <a:t>12</a:t>
            </a:fld>
            <a:endParaRPr lang="en-IN"/>
          </a:p>
        </p:txBody>
      </p:sp>
      <p:pic>
        <p:nvPicPr>
          <p:cNvPr id="6" name="Picture 5">
            <a:extLst>
              <a:ext uri="{FF2B5EF4-FFF2-40B4-BE49-F238E27FC236}">
                <a16:creationId xmlns:a16="http://schemas.microsoft.com/office/drawing/2014/main" id="{5A684418-D0C3-7664-F123-9B8B0A049BC2}"/>
              </a:ext>
            </a:extLst>
          </p:cNvPr>
          <p:cNvPicPr>
            <a:picLocks noChangeAspect="1"/>
          </p:cNvPicPr>
          <p:nvPr/>
        </p:nvPicPr>
        <p:blipFill>
          <a:blip r:embed="rId2" cstate="print">
            <a:extLst>
              <a:ext uri="{28A0092B-C50C-407E-A947-70E740481C1C}">
                <a14:useLocalDpi xmlns:a14="http://schemas.microsoft.com/office/drawing/2010/main" val="0"/>
              </a:ext>
            </a:extLst>
          </a:blip>
          <a:srcRect t="4428" b="4565"/>
          <a:stretch>
            <a:fillRect/>
          </a:stretch>
        </p:blipFill>
        <p:spPr>
          <a:xfrm>
            <a:off x="0" y="1834055"/>
            <a:ext cx="5894624" cy="3352800"/>
          </a:xfrm>
          <a:prstGeom prst="rect">
            <a:avLst/>
          </a:prstGeom>
        </p:spPr>
      </p:pic>
      <p:pic>
        <p:nvPicPr>
          <p:cNvPr id="8" name="Picture 7">
            <a:extLst>
              <a:ext uri="{FF2B5EF4-FFF2-40B4-BE49-F238E27FC236}">
                <a16:creationId xmlns:a16="http://schemas.microsoft.com/office/drawing/2014/main" id="{B2CA0068-B6ED-EF32-2257-01301FBC40AC}"/>
              </a:ext>
            </a:extLst>
          </p:cNvPr>
          <p:cNvPicPr>
            <a:picLocks noChangeAspect="1"/>
          </p:cNvPicPr>
          <p:nvPr/>
        </p:nvPicPr>
        <p:blipFill>
          <a:blip r:embed="rId3" cstate="print">
            <a:extLst>
              <a:ext uri="{28A0092B-C50C-407E-A947-70E740481C1C}">
                <a14:useLocalDpi xmlns:a14="http://schemas.microsoft.com/office/drawing/2010/main" val="0"/>
              </a:ext>
            </a:extLst>
          </a:blip>
          <a:srcRect t="4782" b="4500"/>
          <a:stretch>
            <a:fillRect/>
          </a:stretch>
        </p:blipFill>
        <p:spPr>
          <a:xfrm>
            <a:off x="6213713" y="1834055"/>
            <a:ext cx="5978286" cy="3389586"/>
          </a:xfrm>
          <a:prstGeom prst="rect">
            <a:avLst/>
          </a:prstGeom>
        </p:spPr>
      </p:pic>
    </p:spTree>
    <p:extLst>
      <p:ext uri="{BB962C8B-B14F-4D97-AF65-F5344CB8AC3E}">
        <p14:creationId xmlns:p14="http://schemas.microsoft.com/office/powerpoint/2010/main" val="100280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6131F-AC3F-B6E4-9DC7-C86815D78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920B0-6B99-5C02-8062-7858F811C7E9}"/>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Example of </a:t>
            </a:r>
            <a:r>
              <a:rPr lang="en-US">
                <a:latin typeface="Times New Roman" panose="02020603050405020304" pitchFamily="18" charset="0"/>
                <a:cs typeface="Times New Roman" panose="02020603050405020304" pitchFamily="18" charset="0"/>
              </a:rPr>
              <a:t>Smart Contract</a:t>
            </a:r>
            <a:endParaRPr lang="en-IN" dirty="0"/>
          </a:p>
        </p:txBody>
      </p:sp>
      <p:sp>
        <p:nvSpPr>
          <p:cNvPr id="3" name="Subtitle 2">
            <a:extLst>
              <a:ext uri="{FF2B5EF4-FFF2-40B4-BE49-F238E27FC236}">
                <a16:creationId xmlns:a16="http://schemas.microsoft.com/office/drawing/2014/main" id="{FF90AA04-391B-BF45-F791-7EB6CB7BE3D4}"/>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SPDX</a:t>
            </a:r>
            <a:r>
              <a:rPr lang="en-US" dirty="0">
                <a:latin typeface="Times New Roman" panose="02020603050405020304" pitchFamily="18" charset="0"/>
                <a:cs typeface="Times New Roman" panose="02020603050405020304" pitchFamily="18" charset="0"/>
              </a:rPr>
              <a:t>-License-Identifier: Unlicensed</a:t>
            </a:r>
          </a:p>
          <a:p>
            <a:pPr algn="l">
              <a:lnSpc>
                <a:spcPct val="150000"/>
              </a:lnSpc>
              <a:spcBef>
                <a:spcPts val="0"/>
              </a:spcBef>
            </a:pPr>
            <a:r>
              <a:rPr lang="en-US" dirty="0">
                <a:latin typeface="Times New Roman" panose="02020603050405020304" pitchFamily="18" charset="0"/>
                <a:cs typeface="Times New Roman" panose="02020603050405020304" pitchFamily="18" charset="0"/>
              </a:rPr>
              <a:t>pragma solidity &gt;= 0.7.0;</a:t>
            </a:r>
          </a:p>
          <a:p>
            <a:pPr algn="l">
              <a:lnSpc>
                <a:spcPct val="150000"/>
              </a:lnSpc>
              <a:spcBef>
                <a:spcPts val="0"/>
              </a:spcBef>
            </a:pPr>
            <a:r>
              <a:rPr lang="en-US" dirty="0">
                <a:latin typeface="Times New Roman" panose="02020603050405020304" pitchFamily="18" charset="0"/>
                <a:cs typeface="Times New Roman" panose="02020603050405020304" pitchFamily="18" charset="0"/>
              </a:rPr>
              <a:t>contract Basic{</a:t>
            </a:r>
          </a:p>
          <a:p>
            <a:pPr algn="l">
              <a:lnSpc>
                <a:spcPct val="150000"/>
              </a:lnSpc>
              <a:spcBef>
                <a:spcPts val="0"/>
              </a:spcBef>
            </a:pPr>
            <a:r>
              <a:rPr lang="en-US" dirty="0">
                <a:latin typeface="Times New Roman" panose="02020603050405020304" pitchFamily="18" charset="0"/>
                <a:cs typeface="Times New Roman" panose="02020603050405020304" pitchFamily="18" charset="0"/>
              </a:rPr>
              <a:t>	string public name="Indian Institute of Technology“;</a:t>
            </a:r>
          </a:p>
          <a:p>
            <a:pPr algn="l">
              <a:lnSpc>
                <a:spcPct val="150000"/>
              </a:lnSpc>
              <a:spcBef>
                <a:spcPts val="0"/>
              </a:spcBef>
            </a:pP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r>
              <a:rPr lang="en-US" b="1" dirty="0">
                <a:latin typeface="Times New Roman" panose="02020603050405020304" pitchFamily="18" charset="0"/>
                <a:cs typeface="Times New Roman" panose="02020603050405020304" pitchFamily="18" charset="0"/>
              </a:rPr>
              <a:t>Check ABI and bytecode under Compilation</a:t>
            </a:r>
            <a:endParaRPr lang="en-IN" b="1"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E7B4750-0102-B669-001E-735E81D036E4}"/>
              </a:ext>
            </a:extLst>
          </p:cNvPr>
          <p:cNvSpPr>
            <a:spLocks noGrp="1"/>
          </p:cNvSpPr>
          <p:nvPr>
            <p:ph type="sldNum" sz="quarter" idx="12"/>
          </p:nvPr>
        </p:nvSpPr>
        <p:spPr/>
        <p:txBody>
          <a:bodyPr/>
          <a:lstStyle/>
          <a:p>
            <a:fld id="{C905212E-7E47-46B0-BE65-5B75620CD287}" type="slidenum">
              <a:rPr lang="en-IN" smtClean="0"/>
              <a:t>13</a:t>
            </a:fld>
            <a:endParaRPr lang="en-IN"/>
          </a:p>
        </p:txBody>
      </p:sp>
    </p:spTree>
    <p:extLst>
      <p:ext uri="{BB962C8B-B14F-4D97-AF65-F5344CB8AC3E}">
        <p14:creationId xmlns:p14="http://schemas.microsoft.com/office/powerpoint/2010/main" val="1090301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084B-533D-1521-B11B-1CBB346C9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C3214-8C7F-9DBA-6010-8FC779C5CD87}"/>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Compilation Process</a:t>
            </a:r>
            <a:endParaRPr lang="en-IN" dirty="0"/>
          </a:p>
        </p:txBody>
      </p:sp>
      <p:sp>
        <p:nvSpPr>
          <p:cNvPr id="3" name="Subtitle 2">
            <a:extLst>
              <a:ext uri="{FF2B5EF4-FFF2-40B4-BE49-F238E27FC236}">
                <a16:creationId xmlns:a16="http://schemas.microsoft.com/office/drawing/2014/main" id="{7EAA0F4B-8838-9EDE-DA05-263A8984E1B1}"/>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C4FF6F2-D562-5EC9-FC85-D406A24FBB61}"/>
              </a:ext>
            </a:extLst>
          </p:cNvPr>
          <p:cNvSpPr>
            <a:spLocks noGrp="1"/>
          </p:cNvSpPr>
          <p:nvPr>
            <p:ph type="sldNum" sz="quarter" idx="12"/>
          </p:nvPr>
        </p:nvSpPr>
        <p:spPr/>
        <p:txBody>
          <a:bodyPr/>
          <a:lstStyle/>
          <a:p>
            <a:fld id="{C905212E-7E47-46B0-BE65-5B75620CD287}" type="slidenum">
              <a:rPr lang="en-IN" smtClean="0"/>
              <a:t>14</a:t>
            </a:fld>
            <a:endParaRPr lang="en-IN"/>
          </a:p>
        </p:txBody>
      </p:sp>
      <p:pic>
        <p:nvPicPr>
          <p:cNvPr id="6" name="Picture 5">
            <a:extLst>
              <a:ext uri="{FF2B5EF4-FFF2-40B4-BE49-F238E27FC236}">
                <a16:creationId xmlns:a16="http://schemas.microsoft.com/office/drawing/2014/main" id="{DEF68600-6B34-4A43-8DD5-77EA4092895D}"/>
              </a:ext>
            </a:extLst>
          </p:cNvPr>
          <p:cNvPicPr>
            <a:picLocks noChangeAspect="1"/>
          </p:cNvPicPr>
          <p:nvPr/>
        </p:nvPicPr>
        <p:blipFill>
          <a:blip r:embed="rId2" cstate="print">
            <a:extLst>
              <a:ext uri="{28A0092B-C50C-407E-A947-70E740481C1C}">
                <a14:useLocalDpi xmlns:a14="http://schemas.microsoft.com/office/drawing/2010/main" val="0"/>
              </a:ext>
            </a:extLst>
          </a:blip>
          <a:srcRect l="2286" t="30618" r="1665" b="28849"/>
          <a:stretch>
            <a:fillRect/>
          </a:stretch>
        </p:blipFill>
        <p:spPr>
          <a:xfrm>
            <a:off x="1452282" y="1753496"/>
            <a:ext cx="9013931" cy="2377440"/>
          </a:xfrm>
          <a:prstGeom prst="rect">
            <a:avLst/>
          </a:prstGeom>
        </p:spPr>
      </p:pic>
    </p:spTree>
    <p:extLst>
      <p:ext uri="{BB962C8B-B14F-4D97-AF65-F5344CB8AC3E}">
        <p14:creationId xmlns:p14="http://schemas.microsoft.com/office/powerpoint/2010/main" val="3652990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72D5E-5ED6-A81E-934F-46020FD90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C7A0CD-7724-9F02-36FA-B35ACF6ABBD6}"/>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Compilation Process</a:t>
            </a:r>
            <a:endParaRPr lang="en-IN" dirty="0"/>
          </a:p>
        </p:txBody>
      </p:sp>
      <p:sp>
        <p:nvSpPr>
          <p:cNvPr id="3" name="Subtitle 2">
            <a:extLst>
              <a:ext uri="{FF2B5EF4-FFF2-40B4-BE49-F238E27FC236}">
                <a16:creationId xmlns:a16="http://schemas.microsoft.com/office/drawing/2014/main" id="{7BB2D349-4CA9-6D9C-B2CE-51366C8B3EAC}"/>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dirty="0">
                <a:latin typeface="Times New Roman" panose="02020603050405020304" pitchFamily="18" charset="0"/>
                <a:cs typeface="Times New Roman" panose="02020603050405020304" pitchFamily="18" charset="0"/>
              </a:rPr>
              <a:t>Before deploy smart contract, we need to compile solidity code to Bytecode for </a:t>
            </a:r>
            <a:r>
              <a:rPr lang="en-US" dirty="0" err="1">
                <a:latin typeface="Times New Roman" panose="02020603050405020304" pitchFamily="18" charset="0"/>
                <a:cs typeface="Times New Roman" panose="02020603050405020304" pitchFamily="18" charset="0"/>
              </a:rPr>
              <a:t>EVM</a:t>
            </a:r>
            <a:r>
              <a:rPr lang="en-US" dirty="0">
                <a:latin typeface="Times New Roman" panose="02020603050405020304" pitchFamily="18" charset="0"/>
                <a:cs typeface="Times New Roman" panose="02020603050405020304" pitchFamily="18" charset="0"/>
              </a:rPr>
              <a:t>.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We will get two things after compiling solidity code:</a:t>
            </a:r>
          </a:p>
          <a:p>
            <a:pPr marL="457200" indent="-457200" algn="l">
              <a:lnSpc>
                <a:spcPct val="150000"/>
              </a:lnSpc>
              <a:spcBef>
                <a:spcPts val="0"/>
              </a:spcBef>
              <a:buFont typeface="+mj-lt"/>
              <a:buAutoNum type="arabicPeriod"/>
            </a:pPr>
            <a:r>
              <a:rPr lang="en-US" dirty="0">
                <a:latin typeface="Times New Roman" panose="02020603050405020304" pitchFamily="18" charset="0"/>
                <a:cs typeface="Times New Roman" panose="02020603050405020304" pitchFamily="18" charset="0"/>
              </a:rPr>
              <a:t>Bytecode/</a:t>
            </a:r>
            <a:r>
              <a:rPr lang="en-US" dirty="0" err="1">
                <a:latin typeface="Times New Roman" panose="02020603050405020304" pitchFamily="18" charset="0"/>
                <a:cs typeface="Times New Roman" panose="02020603050405020304" pitchFamily="18" charset="0"/>
              </a:rPr>
              <a:t>EVM</a:t>
            </a:r>
            <a:r>
              <a:rPr lang="en-US" dirty="0">
                <a:latin typeface="Times New Roman" panose="02020603050405020304" pitchFamily="18" charset="0"/>
                <a:cs typeface="Times New Roman" panose="02020603050405020304" pitchFamily="18" charset="0"/>
              </a:rPr>
              <a:t> code</a:t>
            </a:r>
          </a:p>
          <a:p>
            <a:pPr marL="457200" indent="-457200" algn="l">
              <a:lnSpc>
                <a:spcPct val="150000"/>
              </a:lnSpc>
              <a:spcBef>
                <a:spcPts val="0"/>
              </a:spcBef>
              <a:buFont typeface="+mj-lt"/>
              <a:buAutoNum type="arabicPeriod"/>
            </a:pPr>
            <a:r>
              <a:rPr lang="en-US" dirty="0">
                <a:latin typeface="Times New Roman" panose="02020603050405020304" pitchFamily="18" charset="0"/>
                <a:cs typeface="Times New Roman" panose="02020603050405020304" pitchFamily="18" charset="0"/>
              </a:rPr>
              <a:t>ABI (Application Binary Interface)</a:t>
            </a: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Bytecode is code </a:t>
            </a:r>
            <a:r>
              <a:rPr lang="en-US" dirty="0" err="1">
                <a:latin typeface="Times New Roman" panose="02020603050405020304" pitchFamily="18" charset="0"/>
                <a:cs typeface="Times New Roman" panose="02020603050405020304" pitchFamily="18" charset="0"/>
              </a:rPr>
              <a:t>EVM</a:t>
            </a:r>
            <a:r>
              <a:rPr lang="en-US" dirty="0">
                <a:latin typeface="Times New Roman" panose="02020603050405020304" pitchFamily="18" charset="0"/>
                <a:cs typeface="Times New Roman" panose="02020603050405020304" pitchFamily="18" charset="0"/>
              </a:rPr>
              <a:t> execute in blockchain network.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ABI define the actions you interact with smart contract.</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actions in ABI mean the functions of smart contract.</a:t>
            </a: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8A277E8-1639-C95E-8998-AD86B3C39CCF}"/>
              </a:ext>
            </a:extLst>
          </p:cNvPr>
          <p:cNvSpPr>
            <a:spLocks noGrp="1"/>
          </p:cNvSpPr>
          <p:nvPr>
            <p:ph type="sldNum" sz="quarter" idx="12"/>
          </p:nvPr>
        </p:nvSpPr>
        <p:spPr/>
        <p:txBody>
          <a:bodyPr/>
          <a:lstStyle/>
          <a:p>
            <a:fld id="{C905212E-7E47-46B0-BE65-5B75620CD287}" type="slidenum">
              <a:rPr lang="en-IN" smtClean="0"/>
              <a:t>15</a:t>
            </a:fld>
            <a:endParaRPr lang="en-IN"/>
          </a:p>
        </p:txBody>
      </p:sp>
    </p:spTree>
    <p:extLst>
      <p:ext uri="{BB962C8B-B14F-4D97-AF65-F5344CB8AC3E}">
        <p14:creationId xmlns:p14="http://schemas.microsoft.com/office/powerpoint/2010/main" val="649144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ABB3A-C5EC-F1B0-9D16-F1E8FA243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B01B3-F9EF-F455-64AA-A25E9D7E2583}"/>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Comments</a:t>
            </a:r>
            <a:endParaRPr lang="en-IN" dirty="0"/>
          </a:p>
        </p:txBody>
      </p:sp>
      <p:sp>
        <p:nvSpPr>
          <p:cNvPr id="3" name="Subtitle 2">
            <a:extLst>
              <a:ext uri="{FF2B5EF4-FFF2-40B4-BE49-F238E27FC236}">
                <a16:creationId xmlns:a16="http://schemas.microsoft.com/office/drawing/2014/main" id="{AAEEB1E8-FA1E-CB79-792B-05A6C08A951D}"/>
              </a:ext>
            </a:extLst>
          </p:cNvPr>
          <p:cNvSpPr>
            <a:spLocks noGrp="1"/>
          </p:cNvSpPr>
          <p:nvPr>
            <p:ph type="subTitle" idx="1"/>
          </p:nvPr>
        </p:nvSpPr>
        <p:spPr>
          <a:xfrm>
            <a:off x="0" y="1392072"/>
            <a:ext cx="12191999" cy="5465928"/>
          </a:xfrm>
        </p:spPr>
        <p:txBody>
          <a:bodyPr>
            <a:normAutofit/>
          </a:bodyPr>
          <a:lstStyle/>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Comments are not readable by solidity compiler or can say ignored by Solidity Compiler.</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supports both C-style and C++-style comments, Thus −</a:t>
            </a:r>
          </a:p>
          <a:p>
            <a:pPr lvl="1" algn="l"/>
            <a:endParaRPr lang="en-US" sz="2400" dirty="0">
              <a:latin typeface="Times New Roman" panose="02020603050405020304" pitchFamily="18" charset="0"/>
              <a:cs typeface="Times New Roman" panose="02020603050405020304" pitchFamily="18" charset="0"/>
            </a:endParaRPr>
          </a:p>
          <a:p>
            <a:pPr algn="l"/>
            <a:r>
              <a:rPr lang="en-US" b="1" dirty="0">
                <a:latin typeface="Times New Roman" panose="02020603050405020304" pitchFamily="18" charset="0"/>
                <a:cs typeface="Times New Roman" panose="02020603050405020304" pitchFamily="18" charset="0"/>
              </a:rPr>
              <a:t>In general:</a:t>
            </a:r>
          </a:p>
          <a:p>
            <a:pPr marL="342900" indent="-342900" algn="l">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Single line comment:</a:t>
            </a:r>
            <a:r>
              <a:rPr lang="en-US" dirty="0">
                <a:latin typeface="Times New Roman" panose="02020603050405020304" pitchFamily="18" charset="0"/>
                <a:cs typeface="Times New Roman" panose="02020603050405020304" pitchFamily="18" charset="0"/>
              </a:rPr>
              <a:t> started with //</a:t>
            </a:r>
          </a:p>
          <a:p>
            <a:pPr marL="342900" indent="-34290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Multi-line comment:</a:t>
            </a:r>
            <a:r>
              <a:rPr lang="en-US" dirty="0">
                <a:latin typeface="Times New Roman" panose="02020603050405020304" pitchFamily="18" charset="0"/>
                <a:cs typeface="Times New Roman" panose="02020603050405020304" pitchFamily="18" charset="0"/>
              </a:rPr>
              <a:t> This may span multiple lines. </a:t>
            </a:r>
          </a:p>
          <a:p>
            <a:pPr algn="l"/>
            <a:r>
              <a:rPr lang="en-US" dirty="0">
                <a:latin typeface="Times New Roman" panose="02020603050405020304" pitchFamily="18" charset="0"/>
                <a:cs typeface="Times New Roman" panose="02020603050405020304" pitchFamily="18" charset="0"/>
              </a:rPr>
              <a:t>			/* </a:t>
            </a:r>
          </a:p>
          <a:p>
            <a:pPr algn="l"/>
            <a:r>
              <a:rPr lang="en-US" dirty="0">
                <a:latin typeface="Times New Roman" panose="02020603050405020304" pitchFamily="18" charset="0"/>
                <a:cs typeface="Times New Roman" panose="02020603050405020304" pitchFamily="18" charset="0"/>
              </a:rPr>
              <a:t>			text to comment</a:t>
            </a:r>
          </a:p>
          <a:p>
            <a:pPr algn="l"/>
            <a:r>
              <a:rPr lang="en-US" dirty="0">
                <a:latin typeface="Times New Roman" panose="02020603050405020304" pitchFamily="18" charset="0"/>
                <a:cs typeface="Times New Roman" panose="02020603050405020304" pitchFamily="18" charset="0"/>
              </a:rPr>
              <a:t>			*/</a:t>
            </a:r>
          </a:p>
          <a:p>
            <a:pPr algn="l">
              <a:lnSpc>
                <a:spcPct val="150000"/>
              </a:lnSpc>
              <a:spcBef>
                <a:spcPts val="0"/>
              </a:spcBef>
            </a:pPr>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BD65834-137B-056E-1946-17C49F651568}"/>
              </a:ext>
            </a:extLst>
          </p:cNvPr>
          <p:cNvSpPr>
            <a:spLocks noGrp="1"/>
          </p:cNvSpPr>
          <p:nvPr>
            <p:ph type="sldNum" sz="quarter" idx="12"/>
          </p:nvPr>
        </p:nvSpPr>
        <p:spPr/>
        <p:txBody>
          <a:bodyPr/>
          <a:lstStyle/>
          <a:p>
            <a:fld id="{C905212E-7E47-46B0-BE65-5B75620CD287}" type="slidenum">
              <a:rPr lang="en-IN" smtClean="0"/>
              <a:t>16</a:t>
            </a:fld>
            <a:endParaRPr lang="en-IN"/>
          </a:p>
        </p:txBody>
      </p:sp>
    </p:spTree>
    <p:extLst>
      <p:ext uri="{BB962C8B-B14F-4D97-AF65-F5344CB8AC3E}">
        <p14:creationId xmlns:p14="http://schemas.microsoft.com/office/powerpoint/2010/main" val="246477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A9B8E-45B3-2774-5BCA-1ECAE7C49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26E8C2-C562-E7AC-498A-0C9AEFE19568}"/>
              </a:ext>
            </a:extLst>
          </p:cNvPr>
          <p:cNvSpPr>
            <a:spLocks noGrp="1"/>
          </p:cNvSpPr>
          <p:nvPr>
            <p:ph type="ctrTitle"/>
          </p:nvPr>
        </p:nvSpPr>
        <p:spPr>
          <a:xfrm>
            <a:off x="0" y="10367"/>
            <a:ext cx="12192000" cy="1350702"/>
          </a:xfrm>
        </p:spPr>
        <p:txBody>
          <a:bodyPr>
            <a:normAutofit/>
          </a:bodyPr>
          <a:lstStyle/>
          <a:p>
            <a:r>
              <a:rPr lang="en-US" dirty="0">
                <a:latin typeface="Times New Roman" panose="02020603050405020304" pitchFamily="18" charset="0"/>
                <a:cs typeface="Times New Roman" panose="02020603050405020304" pitchFamily="18" charset="0"/>
              </a:rPr>
              <a:t>Keywords</a:t>
            </a:r>
            <a:endParaRPr lang="en-IN" dirty="0"/>
          </a:p>
        </p:txBody>
      </p:sp>
      <p:sp>
        <p:nvSpPr>
          <p:cNvPr id="3" name="Subtitle 2">
            <a:extLst>
              <a:ext uri="{FF2B5EF4-FFF2-40B4-BE49-F238E27FC236}">
                <a16:creationId xmlns:a16="http://schemas.microsoft.com/office/drawing/2014/main" id="{D11641C4-B08A-49AA-B132-8C9619871039}"/>
              </a:ext>
            </a:extLst>
          </p:cNvPr>
          <p:cNvSpPr>
            <a:spLocks noGrp="1"/>
          </p:cNvSpPr>
          <p:nvPr>
            <p:ph type="subTitle" idx="1"/>
          </p:nvPr>
        </p:nvSpPr>
        <p:spPr>
          <a:xfrm>
            <a:off x="0" y="1392072"/>
            <a:ext cx="12191999" cy="5465928"/>
          </a:xfrm>
        </p:spPr>
        <p:txBody>
          <a:bodyPr>
            <a:normAutofit/>
          </a:bodyPr>
          <a:lstStyle/>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Keywords are reserved word.</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Reserved keywords in Solidity −</a:t>
            </a: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E7AC605-F5FD-A69C-9657-765F0CAD7A3C}"/>
              </a:ext>
            </a:extLst>
          </p:cNvPr>
          <p:cNvSpPr>
            <a:spLocks noGrp="1"/>
          </p:cNvSpPr>
          <p:nvPr>
            <p:ph type="sldNum" sz="quarter" idx="12"/>
          </p:nvPr>
        </p:nvSpPr>
        <p:spPr/>
        <p:txBody>
          <a:bodyPr/>
          <a:lstStyle/>
          <a:p>
            <a:fld id="{C905212E-7E47-46B0-BE65-5B75620CD287}" type="slidenum">
              <a:rPr lang="en-IN" smtClean="0"/>
              <a:t>17</a:t>
            </a:fld>
            <a:endParaRPr lang="en-IN"/>
          </a:p>
        </p:txBody>
      </p:sp>
      <p:graphicFrame>
        <p:nvGraphicFramePr>
          <p:cNvPr id="4" name="Table 3">
            <a:extLst>
              <a:ext uri="{FF2B5EF4-FFF2-40B4-BE49-F238E27FC236}">
                <a16:creationId xmlns:a16="http://schemas.microsoft.com/office/drawing/2014/main" id="{4A44D53F-D671-D527-545A-99302196C872}"/>
              </a:ext>
            </a:extLst>
          </p:cNvPr>
          <p:cNvGraphicFramePr>
            <a:graphicFrameLocks noGrp="1"/>
          </p:cNvGraphicFramePr>
          <p:nvPr>
            <p:extLst>
              <p:ext uri="{D42A27DB-BD31-4B8C-83A1-F6EECF244321}">
                <p14:modId xmlns:p14="http://schemas.microsoft.com/office/powerpoint/2010/main" val="3349476564"/>
              </p:ext>
            </p:extLst>
          </p:nvPr>
        </p:nvGraphicFramePr>
        <p:xfrm>
          <a:off x="4697118" y="1623904"/>
          <a:ext cx="7110252" cy="5234096"/>
        </p:xfrm>
        <a:graphic>
          <a:graphicData uri="http://schemas.openxmlformats.org/drawingml/2006/table">
            <a:tbl>
              <a:tblPr/>
              <a:tblGrid>
                <a:gridCol w="1185042">
                  <a:extLst>
                    <a:ext uri="{9D8B030D-6E8A-4147-A177-3AD203B41FA5}">
                      <a16:colId xmlns:a16="http://schemas.microsoft.com/office/drawing/2014/main" val="1976519249"/>
                    </a:ext>
                  </a:extLst>
                </a:gridCol>
                <a:gridCol w="1185042">
                  <a:extLst>
                    <a:ext uri="{9D8B030D-6E8A-4147-A177-3AD203B41FA5}">
                      <a16:colId xmlns:a16="http://schemas.microsoft.com/office/drawing/2014/main" val="3523236712"/>
                    </a:ext>
                  </a:extLst>
                </a:gridCol>
                <a:gridCol w="1185042">
                  <a:extLst>
                    <a:ext uri="{9D8B030D-6E8A-4147-A177-3AD203B41FA5}">
                      <a16:colId xmlns:a16="http://schemas.microsoft.com/office/drawing/2014/main" val="3276577943"/>
                    </a:ext>
                  </a:extLst>
                </a:gridCol>
                <a:gridCol w="1185042">
                  <a:extLst>
                    <a:ext uri="{9D8B030D-6E8A-4147-A177-3AD203B41FA5}">
                      <a16:colId xmlns:a16="http://schemas.microsoft.com/office/drawing/2014/main" val="644927854"/>
                    </a:ext>
                  </a:extLst>
                </a:gridCol>
                <a:gridCol w="1185042">
                  <a:extLst>
                    <a:ext uri="{9D8B030D-6E8A-4147-A177-3AD203B41FA5}">
                      <a16:colId xmlns:a16="http://schemas.microsoft.com/office/drawing/2014/main" val="16062512"/>
                    </a:ext>
                  </a:extLst>
                </a:gridCol>
                <a:gridCol w="1185042">
                  <a:extLst>
                    <a:ext uri="{9D8B030D-6E8A-4147-A177-3AD203B41FA5}">
                      <a16:colId xmlns:a16="http://schemas.microsoft.com/office/drawing/2014/main" val="571492938"/>
                    </a:ext>
                  </a:extLst>
                </a:gridCol>
              </a:tblGrid>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bool</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address</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bytes</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err="1">
                          <a:effectLst/>
                          <a:latin typeface="Times New Roman" panose="02020603050405020304" pitchFamily="18" charset="0"/>
                          <a:cs typeface="Times New Roman" panose="02020603050405020304" pitchFamily="18" charset="0"/>
                        </a:rPr>
                        <a:t>enum</a:t>
                      </a: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typedef</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err="1">
                          <a:effectLst/>
                          <a:latin typeface="Times New Roman" panose="02020603050405020304" pitchFamily="18" charset="0"/>
                          <a:cs typeface="Times New Roman" panose="02020603050405020304" pitchFamily="18" charset="0"/>
                        </a:rPr>
                        <a:t>uint</a:t>
                      </a: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86711294"/>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auto</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constant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switch</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case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define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default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57284897"/>
                  </a:ext>
                </a:extLst>
              </a:tr>
              <a:tr h="4568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if</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else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for</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while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break</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continue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36648845"/>
                  </a:ext>
                </a:extLst>
              </a:tr>
              <a:tr h="45684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pure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800" b="0" i="0" kern="1200" dirty="0">
                          <a:solidFill>
                            <a:schemeClr val="tx1"/>
                          </a:solidFill>
                          <a:effectLst/>
                          <a:latin typeface="+mn-lt"/>
                          <a:ea typeface="+mn-ea"/>
                          <a:cs typeface="+mn-cs"/>
                        </a:rPr>
                        <a:t>view</a:t>
                      </a:r>
                      <a:endParaRPr lang="en-US" sz="1700" b="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payable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override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in</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let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59548833"/>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function</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return</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inline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macro</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require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match</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75365661"/>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mapping</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modifier</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static</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struct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revert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null</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41588090"/>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this</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reference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assembly</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mutable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super</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partial</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93704915"/>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event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new</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fallback</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relocatable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sealed</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err="1">
                          <a:effectLst/>
                          <a:latin typeface="Times New Roman" panose="02020603050405020304" pitchFamily="18" charset="0"/>
                          <a:cs typeface="Times New Roman" panose="02020603050405020304" pitchFamily="18" charset="0"/>
                        </a:rPr>
                        <a:t>sizeof</a:t>
                      </a: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613938114"/>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private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public</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internal</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external</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of</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effectLst/>
                          <a:latin typeface="Times New Roman" panose="02020603050405020304" pitchFamily="18" charset="0"/>
                          <a:cs typeface="Times New Roman" panose="02020603050405020304" pitchFamily="18" charset="0"/>
                        </a:rPr>
                        <a:t>promise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91608625"/>
                  </a:ext>
                </a:extLst>
              </a:tr>
              <a:tr h="456841">
                <a:tc>
                  <a:txBody>
                    <a:bodyPr/>
                    <a:lstStyle/>
                    <a:p>
                      <a:pPr algn="ctr">
                        <a:buNone/>
                      </a:pPr>
                      <a:r>
                        <a:rPr lang="en-US" sz="1700" dirty="0">
                          <a:effectLst/>
                          <a:latin typeface="Times New Roman" panose="02020603050405020304" pitchFamily="18" charset="0"/>
                          <a:cs typeface="Times New Roman" panose="02020603050405020304" pitchFamily="18" charset="0"/>
                        </a:rPr>
                        <a:t>abstract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after</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alias</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apply</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immutable</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supports</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81513853"/>
                  </a:ext>
                </a:extLst>
              </a:tr>
              <a:tr h="332843">
                <a:tc>
                  <a:txBody>
                    <a:bodyPr/>
                    <a:lstStyle/>
                    <a:p>
                      <a:pPr algn="ctr">
                        <a:buNone/>
                      </a:pPr>
                      <a:r>
                        <a:rPr lang="en-US" sz="1700" dirty="0">
                          <a:effectLst/>
                          <a:latin typeface="Times New Roman" panose="02020603050405020304" pitchFamily="18" charset="0"/>
                          <a:cs typeface="Times New Roman" panose="02020603050405020304" pitchFamily="18" charset="0"/>
                        </a:rPr>
                        <a:t>try</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catch</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final</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unchecked</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err="1">
                          <a:effectLst/>
                          <a:latin typeface="Times New Roman" panose="02020603050405020304" pitchFamily="18" charset="0"/>
                          <a:cs typeface="Times New Roman" panose="02020603050405020304" pitchFamily="18" charset="0"/>
                        </a:rPr>
                        <a:t>copyof</a:t>
                      </a: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err="1">
                          <a:effectLst/>
                          <a:latin typeface="Times New Roman" panose="02020603050405020304" pitchFamily="18" charset="0"/>
                          <a:cs typeface="Times New Roman" panose="02020603050405020304" pitchFamily="18" charset="0"/>
                        </a:rPr>
                        <a:t>Typeof</a:t>
                      </a: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562973436"/>
                  </a:ext>
                </a:extLst>
              </a:tr>
              <a:tr h="332843">
                <a:tc>
                  <a:txBody>
                    <a:bodyPr/>
                    <a:lstStyle/>
                    <a:p>
                      <a:pPr algn="ctr">
                        <a:buNone/>
                      </a:pPr>
                      <a:r>
                        <a:rPr lang="en-US" sz="1700" dirty="0">
                          <a:effectLst/>
                          <a:latin typeface="Times New Roman" panose="02020603050405020304" pitchFamily="18" charset="0"/>
                          <a:cs typeface="Times New Roman" panose="02020603050405020304" pitchFamily="18" charset="0"/>
                        </a:rPr>
                        <a:t>pragma</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contract</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r>
                        <a:rPr lang="en-US" sz="1700" dirty="0">
                          <a:effectLst/>
                          <a:latin typeface="Times New Roman" panose="02020603050405020304" pitchFamily="18" charset="0"/>
                          <a:cs typeface="Times New Roman" panose="02020603050405020304" pitchFamily="18" charset="0"/>
                        </a:rPr>
                        <a:t>implements</a:t>
                      </a: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buNone/>
                      </a:pPr>
                      <a:endParaRPr lang="en-US" sz="1700" dirty="0">
                        <a:effectLst/>
                        <a:latin typeface="Times New Roman" panose="02020603050405020304" pitchFamily="18" charset="0"/>
                        <a:cs typeface="Times New Roman" panose="02020603050405020304" pitchFamily="18" charset="0"/>
                      </a:endParaRPr>
                    </a:p>
                  </a:txBody>
                  <a:tcPr marL="35436" marR="35436" marT="35436" marB="354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36420405"/>
                  </a:ext>
                </a:extLst>
              </a:tr>
            </a:tbl>
          </a:graphicData>
        </a:graphic>
      </p:graphicFrame>
    </p:spTree>
    <p:extLst>
      <p:ext uri="{BB962C8B-B14F-4D97-AF65-F5344CB8AC3E}">
        <p14:creationId xmlns:p14="http://schemas.microsoft.com/office/powerpoint/2010/main" val="3947363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53339-6231-F4D1-3B8F-8B81634EA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78A1AB-21C5-986B-08A4-D3D24210298E}"/>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A74EC54E-430B-267D-B483-50DBD92CA61D}"/>
              </a:ext>
            </a:extLst>
          </p:cNvPr>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is a statically typed language, which implies that the type of each of the variables should be specified.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types allow the compiler to check the correct usage of the variables.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declared types have some default values called </a:t>
            </a:r>
            <a:r>
              <a:rPr lang="en-US" b="1" dirty="0">
                <a:latin typeface="Times New Roman" panose="02020603050405020304" pitchFamily="18" charset="0"/>
                <a:cs typeface="Times New Roman" panose="02020603050405020304" pitchFamily="18" charset="0"/>
              </a:rPr>
              <a:t>Zero-State</a:t>
            </a:r>
            <a:r>
              <a:rPr lang="en-US" dirty="0">
                <a:latin typeface="Times New Roman" panose="02020603050405020304" pitchFamily="18" charset="0"/>
                <a:cs typeface="Times New Roman" panose="02020603050405020304" pitchFamily="18" charset="0"/>
              </a:rPr>
              <a:t>, for example for bool the default value is False.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Likewise other statically typed languages Solidity has following defined below:</a:t>
            </a:r>
            <a:endParaRPr lang="en-US" b="1" dirty="0">
              <a:latin typeface="Times New Roman" panose="02020603050405020304" pitchFamily="18" charset="0"/>
              <a:cs typeface="Times New Roman" panose="02020603050405020304" pitchFamily="18" charset="0"/>
            </a:endParaRPr>
          </a:p>
          <a:p>
            <a:pPr marL="914400" lvl="1" indent="-457200" algn="l">
              <a:lnSpc>
                <a:spcPct val="150000"/>
              </a:lnSpc>
              <a:spcBef>
                <a:spcPts val="0"/>
              </a:spcBef>
              <a:buAutoNum type="arabicPeriod"/>
            </a:pPr>
            <a:r>
              <a:rPr lang="en-US" sz="2400" dirty="0">
                <a:latin typeface="Times New Roman" panose="02020603050405020304" pitchFamily="18" charset="0"/>
                <a:cs typeface="Times New Roman" panose="02020603050405020304" pitchFamily="18" charset="0"/>
              </a:rPr>
              <a:t>Value types</a:t>
            </a:r>
          </a:p>
          <a:p>
            <a:pPr marL="914400" lvl="1" indent="-457200" algn="l">
              <a:lnSpc>
                <a:spcPct val="150000"/>
              </a:lnSpc>
              <a:spcBef>
                <a:spcPts val="0"/>
              </a:spcBef>
              <a:buFont typeface="Arial" panose="020B0604020202020204" pitchFamily="34" charset="0"/>
              <a:buAutoNum type="arabicPeriod"/>
            </a:pPr>
            <a:r>
              <a:rPr lang="en-US" sz="2400" dirty="0">
                <a:latin typeface="Times New Roman" panose="02020603050405020304" pitchFamily="18" charset="0"/>
                <a:cs typeface="Times New Roman" panose="02020603050405020304" pitchFamily="18" charset="0"/>
              </a:rPr>
              <a:t>Reference Types</a:t>
            </a:r>
          </a:p>
        </p:txBody>
      </p:sp>
      <p:sp>
        <p:nvSpPr>
          <p:cNvPr id="5" name="Slide Number Placeholder 4">
            <a:extLst>
              <a:ext uri="{FF2B5EF4-FFF2-40B4-BE49-F238E27FC236}">
                <a16:creationId xmlns:a16="http://schemas.microsoft.com/office/drawing/2014/main" id="{29FE9BC9-7C1D-6F63-6985-D372F7151B9C}"/>
              </a:ext>
            </a:extLst>
          </p:cNvPr>
          <p:cNvSpPr>
            <a:spLocks noGrp="1"/>
          </p:cNvSpPr>
          <p:nvPr>
            <p:ph type="sldNum" sz="quarter" idx="12"/>
          </p:nvPr>
        </p:nvSpPr>
        <p:spPr/>
        <p:txBody>
          <a:bodyPr/>
          <a:lstStyle/>
          <a:p>
            <a:fld id="{C905212E-7E47-46B0-BE65-5B75620CD287}" type="slidenum">
              <a:rPr lang="en-IN" smtClean="0"/>
              <a:t>18</a:t>
            </a:fld>
            <a:endParaRPr lang="en-IN"/>
          </a:p>
        </p:txBody>
      </p:sp>
    </p:spTree>
    <p:extLst>
      <p:ext uri="{BB962C8B-B14F-4D97-AF65-F5344CB8AC3E}">
        <p14:creationId xmlns:p14="http://schemas.microsoft.com/office/powerpoint/2010/main" val="3198194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042B-9102-4CBA-C909-F95EFEA70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21F80-82D2-8CD9-8D40-0314C199F387}"/>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62156D77-DD33-1A86-D4B0-39F9AF39065F}"/>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1. Value types: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offers the programmer a rich assortment of built-in as well as user defined data types.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Value type variables store their own data.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are the basic data types provided by solidity.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types of variables are always passed by value. </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variables are copied wherever they are used in function arguments or assignments. </a:t>
            </a: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835ADAA-01A7-B986-A99C-F2AFDD1E0041}"/>
              </a:ext>
            </a:extLst>
          </p:cNvPr>
          <p:cNvSpPr>
            <a:spLocks noGrp="1"/>
          </p:cNvSpPr>
          <p:nvPr>
            <p:ph type="sldNum" sz="quarter" idx="12"/>
          </p:nvPr>
        </p:nvSpPr>
        <p:spPr/>
        <p:txBody>
          <a:bodyPr/>
          <a:lstStyle/>
          <a:p>
            <a:fld id="{C905212E-7E47-46B0-BE65-5B75620CD287}" type="slidenum">
              <a:rPr lang="en-IN" smtClean="0"/>
              <a:t>19</a:t>
            </a:fld>
            <a:endParaRPr lang="en-IN"/>
          </a:p>
        </p:txBody>
      </p:sp>
    </p:spTree>
    <p:extLst>
      <p:ext uri="{BB962C8B-B14F-4D97-AF65-F5344CB8AC3E}">
        <p14:creationId xmlns:p14="http://schemas.microsoft.com/office/powerpoint/2010/main" val="604773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6BC04-39E3-A4F2-8784-79C6495D3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5479D-BB0E-3471-A53F-CE9FB21645BB}"/>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A14B69E0-7EE3-3608-26B4-A458849BB1DE}"/>
              </a:ext>
            </a:extLst>
          </p:cNvPr>
          <p:cNvSpPr>
            <a:spLocks noGrp="1"/>
          </p:cNvSpPr>
          <p:nvPr>
            <p:ph type="subTitle" idx="1"/>
          </p:nvPr>
        </p:nvSpPr>
        <p:spPr>
          <a:xfrm>
            <a:off x="0" y="1392072"/>
            <a:ext cx="12191999" cy="5465928"/>
          </a:xfrm>
        </p:spPr>
        <p:txBody>
          <a:bodyPr>
            <a:normAutofit lnSpcReduction="10000"/>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Value type data types in solidity are listed below: </a:t>
            </a:r>
            <a:endParaRPr lang="en-US" sz="1800" b="1" dirty="0">
              <a:latin typeface="Times New Roman" panose="02020603050405020304" pitchFamily="18" charset="0"/>
              <a:cs typeface="Times New Roman" panose="02020603050405020304" pitchFamily="18" charset="0"/>
            </a:endParaRPr>
          </a:p>
          <a:p>
            <a:pPr algn="l">
              <a:lnSpc>
                <a:spcPct val="150000"/>
              </a:lnSpc>
              <a:spcBef>
                <a:spcPts val="0"/>
              </a:spcBef>
            </a:pPr>
            <a:r>
              <a:rPr lang="en-US" b="1" dirty="0">
                <a:latin typeface="Times New Roman" panose="02020603050405020304" pitchFamily="18" charset="0"/>
                <a:cs typeface="Times New Roman" panose="02020603050405020304" pitchFamily="18" charset="0"/>
              </a:rPr>
              <a:t>Boolean:</a:t>
            </a:r>
            <a:r>
              <a:rPr lang="en-US" dirty="0">
                <a:latin typeface="Times New Roman" panose="02020603050405020304" pitchFamily="18" charset="0"/>
                <a:cs typeface="Times New Roman" panose="02020603050405020304" pitchFamily="18" charset="0"/>
              </a:rPr>
              <a:t> This data type accepts only two values True or False.</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Integer:</a:t>
            </a:r>
            <a:r>
              <a:rPr lang="en-US" dirty="0">
                <a:latin typeface="Times New Roman" panose="02020603050405020304" pitchFamily="18" charset="0"/>
                <a:cs typeface="Times New Roman" panose="02020603050405020304" pitchFamily="18" charset="0"/>
              </a:rPr>
              <a:t> This data type is used to store integer values, int and </a:t>
            </a:r>
            <a:r>
              <a:rPr lang="en-US" dirty="0" err="1">
                <a:latin typeface="Times New Roman" panose="02020603050405020304" pitchFamily="18" charset="0"/>
                <a:cs typeface="Times New Roman" panose="02020603050405020304" pitchFamily="18" charset="0"/>
              </a:rPr>
              <a:t>uint</a:t>
            </a:r>
            <a:r>
              <a:rPr lang="en-US" dirty="0">
                <a:latin typeface="Times New Roman" panose="02020603050405020304" pitchFamily="18" charset="0"/>
                <a:cs typeface="Times New Roman" panose="02020603050405020304" pitchFamily="18" charset="0"/>
              </a:rPr>
              <a:t> are used to declare signed and unsigned integers respectively.</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Fixed Point Numbers:</a:t>
            </a:r>
            <a:r>
              <a:rPr lang="en-US" dirty="0">
                <a:latin typeface="Times New Roman" panose="02020603050405020304" pitchFamily="18" charset="0"/>
                <a:cs typeface="Times New Roman" panose="02020603050405020304" pitchFamily="18" charset="0"/>
              </a:rPr>
              <a:t> These data types are not fully supported in solidity yet, as per the Solidity documentation. They can be declared as </a:t>
            </a:r>
            <a:r>
              <a:rPr lang="en-US" i="1" dirty="0">
                <a:latin typeface="Times New Roman" panose="02020603050405020304" pitchFamily="18" charset="0"/>
                <a:cs typeface="Times New Roman" panose="02020603050405020304" pitchFamily="18" charset="0"/>
              </a:rPr>
              <a:t>fixed</a:t>
            </a:r>
            <a:r>
              <a:rPr lang="en-US" dirty="0">
                <a:latin typeface="Times New Roman" panose="02020603050405020304" pitchFamily="18" charset="0"/>
                <a:cs typeface="Times New Roman" panose="02020603050405020304" pitchFamily="18" charset="0"/>
              </a:rPr>
              <a:t> and </a:t>
            </a:r>
            <a:r>
              <a:rPr lang="en-US" i="1" dirty="0">
                <a:latin typeface="Times New Roman" panose="02020603050405020304" pitchFamily="18" charset="0"/>
                <a:cs typeface="Times New Roman" panose="02020603050405020304" pitchFamily="18" charset="0"/>
              </a:rPr>
              <a:t>unfixed</a:t>
            </a:r>
            <a:r>
              <a:rPr lang="en-US" dirty="0">
                <a:latin typeface="Times New Roman" panose="02020603050405020304" pitchFamily="18" charset="0"/>
                <a:cs typeface="Times New Roman" panose="02020603050405020304" pitchFamily="18" charset="0"/>
              </a:rPr>
              <a:t> for signed and unsigned fixed-point numbers of varying sizes respectively.</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Enums: </a:t>
            </a:r>
            <a:r>
              <a:rPr lang="en-US" dirty="0">
                <a:latin typeface="Times New Roman" panose="02020603050405020304" pitchFamily="18" charset="0"/>
                <a:cs typeface="Times New Roman" panose="02020603050405020304" pitchFamily="18" charset="0"/>
              </a:rPr>
              <a:t>It is used to create user-defined data types, used to assign a name to an integral constant which makes the contract more readable, maintainable, and less prone to errors. Options of </a:t>
            </a:r>
            <a:r>
              <a:rPr lang="en-US" dirty="0" err="1">
                <a:latin typeface="Times New Roman" panose="02020603050405020304" pitchFamily="18" charset="0"/>
                <a:cs typeface="Times New Roman" panose="02020603050405020304" pitchFamily="18" charset="0"/>
              </a:rPr>
              <a:t>enums</a:t>
            </a:r>
            <a:r>
              <a:rPr lang="en-US" dirty="0">
                <a:latin typeface="Times New Roman" panose="02020603050405020304" pitchFamily="18" charset="0"/>
                <a:cs typeface="Times New Roman" panose="02020603050405020304" pitchFamily="18" charset="0"/>
              </a:rPr>
              <a:t> can be represented by unsigned integer values starting from 0.</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7CEF43B-49FE-03B6-D09D-47833409A8EC}"/>
              </a:ext>
            </a:extLst>
          </p:cNvPr>
          <p:cNvSpPr>
            <a:spLocks noGrp="1"/>
          </p:cNvSpPr>
          <p:nvPr>
            <p:ph type="sldNum" sz="quarter" idx="12"/>
          </p:nvPr>
        </p:nvSpPr>
        <p:spPr/>
        <p:txBody>
          <a:bodyPr/>
          <a:lstStyle/>
          <a:p>
            <a:fld id="{C905212E-7E47-46B0-BE65-5B75620CD287}" type="slidenum">
              <a:rPr lang="en-IN" smtClean="0"/>
              <a:t>20</a:t>
            </a:fld>
            <a:endParaRPr lang="en-IN"/>
          </a:p>
        </p:txBody>
      </p:sp>
    </p:spTree>
    <p:extLst>
      <p:ext uri="{BB962C8B-B14F-4D97-AF65-F5344CB8AC3E}">
        <p14:creationId xmlns:p14="http://schemas.microsoft.com/office/powerpoint/2010/main" val="757731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02F92-2529-B280-4DC6-820C4033B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D9E81-2E1F-C89F-CE70-2C25CDF510CB}"/>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8CF6E508-A8C1-71F1-07C4-EBFAB4CA04EF}"/>
              </a:ext>
            </a:extLst>
          </p:cNvPr>
          <p:cNvSpPr>
            <a:spLocks noGrp="1"/>
          </p:cNvSpPr>
          <p:nvPr>
            <p:ph type="subTitle" idx="1"/>
          </p:nvPr>
        </p:nvSpPr>
        <p:spPr>
          <a:xfrm>
            <a:off x="0" y="1392072"/>
            <a:ext cx="12191999" cy="5465928"/>
          </a:xfrm>
        </p:spPr>
        <p:txBody>
          <a:bodyPr>
            <a:normAutofit lnSpcReduction="10000"/>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Value type data types in solidity are listed below: </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Address:</a:t>
            </a:r>
            <a:r>
              <a:rPr lang="en-US" dirty="0">
                <a:latin typeface="Times New Roman" panose="02020603050405020304" pitchFamily="18" charset="0"/>
                <a:cs typeface="Times New Roman" panose="02020603050405020304" pitchFamily="18" charset="0"/>
              </a:rPr>
              <a:t> Address hold a 20-byte value which represents the size of an Ethereum address.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An address can be used to get the balance using </a:t>
            </a:r>
            <a:r>
              <a:rPr lang="en-US" b="1" dirty="0">
                <a:latin typeface="Times New Roman" panose="02020603050405020304" pitchFamily="18" charset="0"/>
                <a:cs typeface="Times New Roman" panose="02020603050405020304" pitchFamily="18" charset="0"/>
              </a:rPr>
              <a:t>.balance</a:t>
            </a:r>
            <a:r>
              <a:rPr lang="en-US" dirty="0">
                <a:latin typeface="Times New Roman" panose="02020603050405020304" pitchFamily="18" charset="0"/>
                <a:cs typeface="Times New Roman" panose="02020603050405020304" pitchFamily="18" charset="0"/>
              </a:rPr>
              <a:t> method and can be used to transfer balance to another address using </a:t>
            </a:r>
            <a:r>
              <a:rPr lang="en-US" b="1" dirty="0">
                <a:latin typeface="Times New Roman" panose="02020603050405020304" pitchFamily="18" charset="0"/>
                <a:cs typeface="Times New Roman" panose="02020603050405020304" pitchFamily="18" charset="0"/>
              </a:rPr>
              <a:t>.transfer </a:t>
            </a:r>
            <a:r>
              <a:rPr lang="en-US" dirty="0">
                <a:latin typeface="Times New Roman" panose="02020603050405020304" pitchFamily="18" charset="0"/>
                <a:cs typeface="Times New Roman" panose="02020603050405020304" pitchFamily="18" charset="0"/>
              </a:rPr>
              <a:t>method.</a:t>
            </a:r>
          </a:p>
          <a:p>
            <a:pPr algn="l">
              <a:lnSpc>
                <a:spcPct val="110000"/>
              </a:lnSpc>
              <a:spcBef>
                <a:spcPts val="0"/>
              </a:spcBef>
            </a:pPr>
            <a:r>
              <a:rPr lang="en-US" dirty="0">
                <a:solidFill>
                  <a:srgbClr val="0070C0"/>
                </a:solidFill>
                <a:latin typeface="Times New Roman" panose="02020603050405020304" pitchFamily="18" charset="0"/>
                <a:cs typeface="Times New Roman" panose="02020603050405020304" pitchFamily="18" charset="0"/>
              </a:rPr>
              <a:t>	address x = 0x212; </a:t>
            </a:r>
          </a:p>
          <a:p>
            <a:pPr algn="l">
              <a:lnSpc>
                <a:spcPct val="110000"/>
              </a:lnSpc>
              <a:spcBef>
                <a:spcPts val="0"/>
              </a:spcBef>
            </a:pPr>
            <a:r>
              <a:rPr lang="en-US" dirty="0">
                <a:solidFill>
                  <a:srgbClr val="0070C0"/>
                </a:solidFill>
                <a:latin typeface="Times New Roman" panose="02020603050405020304" pitchFamily="18" charset="0"/>
                <a:cs typeface="Times New Roman" panose="02020603050405020304" pitchFamily="18" charset="0"/>
              </a:rPr>
              <a:t>	address </a:t>
            </a:r>
            <a:r>
              <a:rPr lang="en-US" dirty="0" err="1">
                <a:solidFill>
                  <a:srgbClr val="0070C0"/>
                </a:solidFill>
                <a:latin typeface="Times New Roman" panose="02020603050405020304" pitchFamily="18" charset="0"/>
                <a:cs typeface="Times New Roman" panose="02020603050405020304" pitchFamily="18" charset="0"/>
              </a:rPr>
              <a:t>myAddress</a:t>
            </a:r>
            <a:r>
              <a:rPr lang="en-US" dirty="0">
                <a:solidFill>
                  <a:srgbClr val="0070C0"/>
                </a:solidFill>
                <a:latin typeface="Times New Roman" panose="02020603050405020304" pitchFamily="18" charset="0"/>
                <a:cs typeface="Times New Roman" panose="02020603050405020304" pitchFamily="18" charset="0"/>
              </a:rPr>
              <a:t> = this; </a:t>
            </a:r>
          </a:p>
          <a:p>
            <a:pPr algn="l">
              <a:lnSpc>
                <a:spcPct val="110000"/>
              </a:lnSpc>
              <a:spcBef>
                <a:spcPts val="0"/>
              </a:spcBef>
            </a:pPr>
            <a:r>
              <a:rPr lang="en-US" dirty="0">
                <a:solidFill>
                  <a:srgbClr val="0070C0"/>
                </a:solidFill>
                <a:latin typeface="Times New Roman" panose="02020603050405020304" pitchFamily="18" charset="0"/>
                <a:cs typeface="Times New Roman" panose="02020603050405020304" pitchFamily="18" charset="0"/>
              </a:rPr>
              <a:t>	if (</a:t>
            </a:r>
            <a:r>
              <a:rPr lang="en-US" dirty="0" err="1">
                <a:solidFill>
                  <a:srgbClr val="0070C0"/>
                </a:solidFill>
                <a:latin typeface="Times New Roman" panose="02020603050405020304" pitchFamily="18" charset="0"/>
                <a:cs typeface="Times New Roman" panose="02020603050405020304" pitchFamily="18" charset="0"/>
              </a:rPr>
              <a:t>x.balance</a:t>
            </a:r>
            <a:r>
              <a:rPr lang="en-US" dirty="0">
                <a:solidFill>
                  <a:srgbClr val="0070C0"/>
                </a:solidFill>
                <a:latin typeface="Times New Roman" panose="02020603050405020304" pitchFamily="18" charset="0"/>
                <a:cs typeface="Times New Roman" panose="02020603050405020304" pitchFamily="18" charset="0"/>
              </a:rPr>
              <a:t> &lt; 10 &amp;&amp; </a:t>
            </a:r>
            <a:r>
              <a:rPr lang="en-US" dirty="0" err="1">
                <a:solidFill>
                  <a:srgbClr val="0070C0"/>
                </a:solidFill>
                <a:latin typeface="Times New Roman" panose="02020603050405020304" pitchFamily="18" charset="0"/>
                <a:cs typeface="Times New Roman" panose="02020603050405020304" pitchFamily="18" charset="0"/>
              </a:rPr>
              <a:t>myAddress.balance</a:t>
            </a:r>
            <a:r>
              <a:rPr lang="en-US" dirty="0">
                <a:solidFill>
                  <a:srgbClr val="0070C0"/>
                </a:solidFill>
                <a:latin typeface="Times New Roman" panose="02020603050405020304" pitchFamily="18" charset="0"/>
                <a:cs typeface="Times New Roman" panose="02020603050405020304" pitchFamily="18" charset="0"/>
              </a:rPr>
              <a:t> &gt;= 10) </a:t>
            </a:r>
            <a:r>
              <a:rPr lang="en-US" dirty="0" err="1">
                <a:solidFill>
                  <a:srgbClr val="0070C0"/>
                </a:solidFill>
                <a:latin typeface="Times New Roman" panose="02020603050405020304" pitchFamily="18" charset="0"/>
                <a:cs typeface="Times New Roman" panose="02020603050405020304" pitchFamily="18" charset="0"/>
              </a:rPr>
              <a:t>x.transfer</a:t>
            </a:r>
            <a:r>
              <a:rPr lang="en-US" dirty="0">
                <a:solidFill>
                  <a:srgbClr val="0070C0"/>
                </a:solidFill>
                <a:latin typeface="Times New Roman" panose="02020603050405020304" pitchFamily="18" charset="0"/>
                <a:cs typeface="Times New Roman" panose="02020603050405020304" pitchFamily="18" charset="0"/>
              </a:rPr>
              <a:t>(10);</a:t>
            </a:r>
            <a:endParaRPr lang="en-IN" dirty="0">
              <a:solidFill>
                <a:srgbClr val="0070C0"/>
              </a:solidFill>
              <a:latin typeface="Times New Roman" panose="02020603050405020304" pitchFamily="18" charset="0"/>
              <a:cs typeface="Times New Roman" panose="02020603050405020304" pitchFamily="18" charset="0"/>
            </a:endParaRPr>
          </a:p>
          <a:p>
            <a:pPr algn="l">
              <a:lnSpc>
                <a:spcPct val="150000"/>
              </a:lnSpc>
              <a:spcBef>
                <a:spcPts val="0"/>
              </a:spcBef>
            </a:pPr>
            <a:r>
              <a:rPr lang="en-US" b="1" dirty="0">
                <a:latin typeface="Times New Roman" panose="02020603050405020304" pitchFamily="18" charset="0"/>
                <a:cs typeface="Times New Roman" panose="02020603050405020304" pitchFamily="18" charset="0"/>
              </a:rPr>
              <a:t>Bytes: </a:t>
            </a:r>
            <a:r>
              <a:rPr lang="en-US" dirty="0">
                <a:latin typeface="Times New Roman" panose="02020603050405020304" pitchFamily="18" charset="0"/>
                <a:cs typeface="Times New Roman" panose="02020603050405020304" pitchFamily="18" charset="0"/>
              </a:rPr>
              <a:t>Although bytes are similar to strings, there are some differences between them. bytes used to store a fixed-sized character set while the string is used to store the character set equal to or more than a byte. The length of bytes is from 1 to 32, while the string has a dynamic length. Byte has the advantage that it uses less gas, so better to use when we know the length of data.</a:t>
            </a:r>
          </a:p>
        </p:txBody>
      </p:sp>
      <p:sp>
        <p:nvSpPr>
          <p:cNvPr id="5" name="Slide Number Placeholder 4">
            <a:extLst>
              <a:ext uri="{FF2B5EF4-FFF2-40B4-BE49-F238E27FC236}">
                <a16:creationId xmlns:a16="http://schemas.microsoft.com/office/drawing/2014/main" id="{D2944317-4EB1-3C78-EAEB-E81847471A8E}"/>
              </a:ext>
            </a:extLst>
          </p:cNvPr>
          <p:cNvSpPr>
            <a:spLocks noGrp="1"/>
          </p:cNvSpPr>
          <p:nvPr>
            <p:ph type="sldNum" sz="quarter" idx="12"/>
          </p:nvPr>
        </p:nvSpPr>
        <p:spPr/>
        <p:txBody>
          <a:bodyPr/>
          <a:lstStyle/>
          <a:p>
            <a:fld id="{C905212E-7E47-46B0-BE65-5B75620CD287}" type="slidenum">
              <a:rPr lang="en-IN" smtClean="0"/>
              <a:t>21</a:t>
            </a:fld>
            <a:endParaRPr lang="en-IN"/>
          </a:p>
        </p:txBody>
      </p:sp>
    </p:spTree>
    <p:extLst>
      <p:ext uri="{BB962C8B-B14F-4D97-AF65-F5344CB8AC3E}">
        <p14:creationId xmlns:p14="http://schemas.microsoft.com/office/powerpoint/2010/main" val="3285069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B743C-D9F4-EDAF-D0EE-711215695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D5368-7BA4-0F02-D928-2B0E1A902C11}"/>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F74A6A61-A9A2-40A5-24B7-5B3542A7D94D}"/>
              </a:ext>
            </a:extLst>
          </p:cNvPr>
          <p:cNvSpPr>
            <a:spLocks noGrp="1"/>
          </p:cNvSpPr>
          <p:nvPr>
            <p:ph type="subTitle" idx="1"/>
          </p:nvPr>
        </p:nvSpPr>
        <p:spPr>
          <a:xfrm>
            <a:off x="0" y="1392072"/>
            <a:ext cx="12191999" cy="5465928"/>
          </a:xfrm>
        </p:spPr>
        <p:txBody>
          <a:bodyPr numCol="2">
            <a:noAutofit/>
          </a:bodyPr>
          <a:lstStyle/>
          <a:p>
            <a:pPr algn="l">
              <a:lnSpc>
                <a:spcPct val="150000"/>
              </a:lnSpc>
              <a:spcBef>
                <a:spcPts val="0"/>
              </a:spcBef>
            </a:pPr>
            <a:r>
              <a:rPr lang="en-IN" b="1" dirty="0">
                <a:latin typeface="Times New Roman" panose="02020603050405020304" pitchFamily="18" charset="0"/>
                <a:cs typeface="Times New Roman" panose="02020603050405020304" pitchFamily="18" charset="0"/>
              </a:rPr>
              <a:t>Example: </a:t>
            </a:r>
            <a:r>
              <a:rPr lang="en-IN" dirty="0">
                <a:latin typeface="Times New Roman" panose="02020603050405020304" pitchFamily="18" charset="0"/>
                <a:cs typeface="Times New Roman" panose="02020603050405020304" pitchFamily="18" charset="0"/>
              </a:rPr>
              <a:t>The contract Types initialize the values of different types of Values Types.</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SPDX</a:t>
            </a:r>
            <a:r>
              <a:rPr lang="en-IN" sz="2000" dirty="0">
                <a:latin typeface="Times New Roman" panose="02020603050405020304" pitchFamily="18" charset="0"/>
                <a:cs typeface="Times New Roman" panose="02020603050405020304" pitchFamily="18" charset="0"/>
              </a:rPr>
              <a:t>-License-Identifier: GPL-3.0 </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pragma solidity &gt;=0.4.22 &lt;0.9.0;  </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//A contract for demonstrate Value types</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contract Types {</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bool public </a:t>
            </a:r>
            <a:r>
              <a:rPr lang="en-IN" sz="2000" dirty="0" err="1">
                <a:latin typeface="Times New Roman" panose="02020603050405020304" pitchFamily="18" charset="0"/>
                <a:cs typeface="Times New Roman" panose="02020603050405020304" pitchFamily="18" charset="0"/>
              </a:rPr>
              <a:t>boolean</a:t>
            </a:r>
            <a:r>
              <a:rPr lang="en-IN" sz="2000" dirty="0">
                <a:latin typeface="Times New Roman" panose="02020603050405020304" pitchFamily="18" charset="0"/>
                <a:cs typeface="Times New Roman" panose="02020603050405020304" pitchFamily="18" charset="0"/>
              </a:rPr>
              <a:t> = false; // Initializing Bool variable</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int32 public </a:t>
            </a:r>
            <a:r>
              <a:rPr lang="en-IN" sz="2000" dirty="0" err="1">
                <a:latin typeface="Times New Roman" panose="02020603050405020304" pitchFamily="18" charset="0"/>
                <a:cs typeface="Times New Roman" panose="02020603050405020304" pitchFamily="18" charset="0"/>
              </a:rPr>
              <a:t>int_var</a:t>
            </a:r>
            <a:r>
              <a:rPr lang="en-IN" sz="2000" dirty="0">
                <a:latin typeface="Times New Roman" panose="02020603050405020304" pitchFamily="18" charset="0"/>
                <a:cs typeface="Times New Roman" panose="02020603050405020304" pitchFamily="18" charset="0"/>
              </a:rPr>
              <a:t> = -60313; // Initializing Integer variable</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string public str = “</a:t>
            </a:r>
            <a:r>
              <a:rPr lang="en-IN" sz="2000" dirty="0" err="1">
                <a:latin typeface="Times New Roman" panose="02020603050405020304" pitchFamily="18" charset="0"/>
                <a:cs typeface="Times New Roman" panose="02020603050405020304" pitchFamily="18" charset="0"/>
              </a:rPr>
              <a:t>IIT</a:t>
            </a:r>
            <a:r>
              <a:rPr lang="en-IN" sz="2000" dirty="0">
                <a:latin typeface="Times New Roman" panose="02020603050405020304" pitchFamily="18" charset="0"/>
                <a:cs typeface="Times New Roman" panose="02020603050405020304" pitchFamily="18" charset="0"/>
              </a:rPr>
              <a:t>"; // Initializing String variable</a:t>
            </a:r>
          </a:p>
          <a:p>
            <a:pPr algn="l">
              <a:lnSpc>
                <a:spcPct val="150000"/>
              </a:lnSpc>
              <a:spcBef>
                <a:spcPts val="0"/>
              </a:spcBef>
            </a:pPr>
            <a:endParaRPr lang="en-IN" sz="2000" dirty="0">
              <a:latin typeface="Times New Roman" panose="02020603050405020304" pitchFamily="18" charset="0"/>
              <a:cs typeface="Times New Roman" panose="02020603050405020304" pitchFamily="18" charset="0"/>
            </a:endParaRP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bytes1 public b = "a"; // Initializing Byte variable</a:t>
            </a:r>
          </a:p>
          <a:p>
            <a:pPr algn="l">
              <a:lnSpc>
                <a:spcPct val="150000"/>
              </a:lnSpc>
              <a:spcBef>
                <a:spcPts val="0"/>
              </a:spcBef>
            </a:pPr>
            <a:r>
              <a:rPr lang="en-IN" sz="2000" dirty="0" err="1">
                <a:latin typeface="Times New Roman" panose="02020603050405020304" pitchFamily="18" charset="0"/>
                <a:cs typeface="Times New Roman" panose="02020603050405020304" pitchFamily="18" charset="0"/>
              </a:rPr>
              <a:t>enum</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my_enum</a:t>
            </a:r>
            <a:r>
              <a:rPr lang="en-IN" sz="2000" dirty="0">
                <a:latin typeface="Times New Roman" panose="02020603050405020304" pitchFamily="18" charset="0"/>
                <a:cs typeface="Times New Roman" panose="02020603050405020304" pitchFamily="18" charset="0"/>
              </a:rPr>
              <a:t> { Raman_, _for, _Raman } // Defining an enumerator</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    // Defining a function to return values stored in an enumerator</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    function Enum() public pure returns(</a:t>
            </a:r>
            <a:r>
              <a:rPr lang="en-IN" sz="2000" dirty="0" err="1">
                <a:latin typeface="Times New Roman" panose="02020603050405020304" pitchFamily="18" charset="0"/>
                <a:cs typeface="Times New Roman" panose="02020603050405020304" pitchFamily="18" charset="0"/>
              </a:rPr>
              <a:t>my_enum</a:t>
            </a:r>
            <a:r>
              <a:rPr lang="en-IN" sz="2000" dirty="0">
                <a:latin typeface="Times New Roman" panose="02020603050405020304" pitchFamily="18" charset="0"/>
                <a:cs typeface="Times New Roman" panose="02020603050405020304" pitchFamily="18" charset="0"/>
              </a:rPr>
              <a:t>) {</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        return my_</a:t>
            </a:r>
            <a:r>
              <a:rPr lang="en-IN" sz="2000" dirty="0" err="1">
                <a:latin typeface="Times New Roman" panose="02020603050405020304" pitchFamily="18" charset="0"/>
                <a:cs typeface="Times New Roman" panose="02020603050405020304" pitchFamily="18" charset="0"/>
              </a:rPr>
              <a:t>enum</a:t>
            </a:r>
            <a:r>
              <a:rPr lang="en-IN" sz="2000" dirty="0">
                <a:latin typeface="Times New Roman" panose="02020603050405020304" pitchFamily="18" charset="0"/>
                <a:cs typeface="Times New Roman" panose="02020603050405020304" pitchFamily="18" charset="0"/>
              </a:rPr>
              <a:t>._geeks;</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    }</a:t>
            </a:r>
          </a:p>
          <a:p>
            <a:pPr algn="l">
              <a:lnSpc>
                <a:spcPct val="150000"/>
              </a:lnSpc>
              <a:spcBef>
                <a:spcPts val="0"/>
              </a:spcBef>
            </a:pPr>
            <a:r>
              <a:rPr lang="en-IN" sz="2000" dirty="0">
                <a:latin typeface="Times New Roman" panose="02020603050405020304" pitchFamily="18" charset="0"/>
                <a:cs typeface="Times New Roman" panose="02020603050405020304" pitchFamily="18" charset="0"/>
              </a:rPr>
              <a:t>}</a:t>
            </a:r>
          </a:p>
        </p:txBody>
      </p:sp>
      <p:sp>
        <p:nvSpPr>
          <p:cNvPr id="5" name="Slide Number Placeholder 4">
            <a:extLst>
              <a:ext uri="{FF2B5EF4-FFF2-40B4-BE49-F238E27FC236}">
                <a16:creationId xmlns:a16="http://schemas.microsoft.com/office/drawing/2014/main" id="{9C457428-854F-E27D-408A-A4BED969FBE7}"/>
              </a:ext>
            </a:extLst>
          </p:cNvPr>
          <p:cNvSpPr>
            <a:spLocks noGrp="1"/>
          </p:cNvSpPr>
          <p:nvPr>
            <p:ph type="sldNum" sz="quarter" idx="12"/>
          </p:nvPr>
        </p:nvSpPr>
        <p:spPr/>
        <p:txBody>
          <a:bodyPr/>
          <a:lstStyle/>
          <a:p>
            <a:fld id="{C905212E-7E47-46B0-BE65-5B75620CD287}" type="slidenum">
              <a:rPr lang="en-IN" smtClean="0"/>
              <a:t>22</a:t>
            </a:fld>
            <a:endParaRPr lang="en-IN"/>
          </a:p>
        </p:txBody>
      </p:sp>
    </p:spTree>
    <p:extLst>
      <p:ext uri="{BB962C8B-B14F-4D97-AF65-F5344CB8AC3E}">
        <p14:creationId xmlns:p14="http://schemas.microsoft.com/office/powerpoint/2010/main" val="8991027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698D3-5DFB-D028-347D-94B0337698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00FA4-45AE-00DB-E286-6AD056302ED5}"/>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AE28C13B-A751-642B-A529-DF08BD1E814B}"/>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dirty="0">
                <a:latin typeface="Times New Roman" panose="02020603050405020304" pitchFamily="18" charset="0"/>
                <a:cs typeface="Times New Roman" panose="02020603050405020304" pitchFamily="18" charset="0"/>
              </a:rPr>
              <a:t>Following table lists down seven basic C++ data types −</a:t>
            </a:r>
          </a:p>
          <a:p>
            <a:pPr algn="l">
              <a:lnSpc>
                <a:spcPct val="150000"/>
              </a:lnSpc>
              <a:spcBef>
                <a:spcPts val="0"/>
              </a:spcBef>
            </a:pPr>
            <a:endParaRPr lang="en-IN" sz="1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185F74D-0EC3-66F6-7847-53E16D9032B6}"/>
              </a:ext>
            </a:extLst>
          </p:cNvPr>
          <p:cNvSpPr>
            <a:spLocks noGrp="1"/>
          </p:cNvSpPr>
          <p:nvPr>
            <p:ph type="sldNum" sz="quarter" idx="12"/>
          </p:nvPr>
        </p:nvSpPr>
        <p:spPr/>
        <p:txBody>
          <a:bodyPr/>
          <a:lstStyle/>
          <a:p>
            <a:fld id="{C905212E-7E47-46B0-BE65-5B75620CD287}" type="slidenum">
              <a:rPr lang="en-IN" smtClean="0"/>
              <a:t>23</a:t>
            </a:fld>
            <a:endParaRPr lang="en-IN"/>
          </a:p>
        </p:txBody>
      </p:sp>
      <p:graphicFrame>
        <p:nvGraphicFramePr>
          <p:cNvPr id="4" name="Table 3">
            <a:extLst>
              <a:ext uri="{FF2B5EF4-FFF2-40B4-BE49-F238E27FC236}">
                <a16:creationId xmlns:a16="http://schemas.microsoft.com/office/drawing/2014/main" id="{B97B481B-0D23-487B-C223-A7954C346B26}"/>
              </a:ext>
            </a:extLst>
          </p:cNvPr>
          <p:cNvGraphicFramePr>
            <a:graphicFrameLocks noGrp="1"/>
          </p:cNvGraphicFramePr>
          <p:nvPr>
            <p:extLst>
              <p:ext uri="{D42A27DB-BD31-4B8C-83A1-F6EECF244321}">
                <p14:modId xmlns:p14="http://schemas.microsoft.com/office/powerpoint/2010/main" val="3954874070"/>
              </p:ext>
            </p:extLst>
          </p:nvPr>
        </p:nvGraphicFramePr>
        <p:xfrm>
          <a:off x="393332" y="2166914"/>
          <a:ext cx="10374516" cy="3060947"/>
        </p:xfrm>
        <a:graphic>
          <a:graphicData uri="http://schemas.openxmlformats.org/drawingml/2006/table">
            <a:tbl>
              <a:tblPr/>
              <a:tblGrid>
                <a:gridCol w="1447741">
                  <a:extLst>
                    <a:ext uri="{9D8B030D-6E8A-4147-A177-3AD203B41FA5}">
                      <a16:colId xmlns:a16="http://schemas.microsoft.com/office/drawing/2014/main" val="1438107270"/>
                    </a:ext>
                  </a:extLst>
                </a:gridCol>
                <a:gridCol w="1495266">
                  <a:extLst>
                    <a:ext uri="{9D8B030D-6E8A-4147-A177-3AD203B41FA5}">
                      <a16:colId xmlns:a16="http://schemas.microsoft.com/office/drawing/2014/main" val="4095169175"/>
                    </a:ext>
                  </a:extLst>
                </a:gridCol>
                <a:gridCol w="7431509">
                  <a:extLst>
                    <a:ext uri="{9D8B030D-6E8A-4147-A177-3AD203B41FA5}">
                      <a16:colId xmlns:a16="http://schemas.microsoft.com/office/drawing/2014/main" val="3086410968"/>
                    </a:ext>
                  </a:extLst>
                </a:gridCol>
              </a:tblGrid>
              <a:tr h="334265">
                <a:tc>
                  <a:txBody>
                    <a:bodyPr/>
                    <a:lstStyle/>
                    <a:p>
                      <a:pPr algn="l">
                        <a:buNone/>
                      </a:pPr>
                      <a:r>
                        <a:rPr lang="en-US" sz="2000" b="1">
                          <a:solidFill>
                            <a:srgbClr val="000000"/>
                          </a:solidFill>
                          <a:effectLst/>
                          <a:latin typeface="Times New Roman" panose="02020603050405020304" pitchFamily="18" charset="0"/>
                          <a:cs typeface="Times New Roman" panose="02020603050405020304" pitchFamily="18" charset="0"/>
                        </a:rPr>
                        <a:t>Type</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buNone/>
                      </a:pPr>
                      <a:r>
                        <a:rPr lang="en-US" sz="2000" b="1">
                          <a:solidFill>
                            <a:srgbClr val="000000"/>
                          </a:solidFill>
                          <a:effectLst/>
                          <a:latin typeface="Times New Roman" panose="02020603050405020304" pitchFamily="18" charset="0"/>
                          <a:cs typeface="Times New Roman" panose="02020603050405020304" pitchFamily="18" charset="0"/>
                        </a:rPr>
                        <a:t>Keyword</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l">
                        <a:buNone/>
                      </a:pPr>
                      <a:r>
                        <a:rPr lang="en-US" sz="2000" b="1" dirty="0">
                          <a:solidFill>
                            <a:srgbClr val="000000"/>
                          </a:solidFill>
                          <a:effectLst/>
                          <a:latin typeface="Times New Roman" panose="02020603050405020304" pitchFamily="18" charset="0"/>
                          <a:cs typeface="Times New Roman" panose="02020603050405020304" pitchFamily="18" charset="0"/>
                        </a:rPr>
                        <a:t>Values</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555380982"/>
                  </a:ext>
                </a:extLst>
              </a:tr>
              <a:tr h="422296">
                <a:tc>
                  <a:txBody>
                    <a:bodyPr/>
                    <a:lstStyle/>
                    <a:p>
                      <a:pPr algn="l">
                        <a:buNone/>
                      </a:pPr>
                      <a:r>
                        <a:rPr lang="en-US" sz="2000">
                          <a:effectLst/>
                          <a:latin typeface="Times New Roman" panose="02020603050405020304" pitchFamily="18" charset="0"/>
                          <a:cs typeface="Times New Roman" panose="02020603050405020304" pitchFamily="18" charset="0"/>
                        </a:rPr>
                        <a:t>Boolean</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a:effectLst/>
                          <a:latin typeface="Times New Roman" panose="02020603050405020304" pitchFamily="18" charset="0"/>
                          <a:cs typeface="Times New Roman" panose="02020603050405020304" pitchFamily="18" charset="0"/>
                        </a:rPr>
                        <a:t>bool</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a:effectLst/>
                          <a:latin typeface="Times New Roman" panose="02020603050405020304" pitchFamily="18" charset="0"/>
                          <a:cs typeface="Times New Roman" panose="02020603050405020304" pitchFamily="18" charset="0"/>
                        </a:rPr>
                        <a:t>true/false</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85921897"/>
                  </a:ext>
                </a:extLst>
              </a:tr>
              <a:tr h="422296">
                <a:tc>
                  <a:txBody>
                    <a:bodyPr/>
                    <a:lstStyle/>
                    <a:p>
                      <a:pPr algn="l">
                        <a:buNone/>
                      </a:pPr>
                      <a:r>
                        <a:rPr lang="en-US" sz="2000">
                          <a:effectLst/>
                          <a:latin typeface="Times New Roman" panose="02020603050405020304" pitchFamily="18" charset="0"/>
                          <a:cs typeface="Times New Roman" panose="02020603050405020304" pitchFamily="18" charset="0"/>
                        </a:rPr>
                        <a:t>Integer</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a:effectLst/>
                          <a:latin typeface="Times New Roman" panose="02020603050405020304" pitchFamily="18" charset="0"/>
                          <a:cs typeface="Times New Roman" panose="02020603050405020304" pitchFamily="18" charset="0"/>
                        </a:rPr>
                        <a:t>int/uint</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Signed and unsigned integers of varying sizes.</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09451002"/>
                  </a:ext>
                </a:extLst>
              </a:tr>
              <a:tr h="422296">
                <a:tc>
                  <a:txBody>
                    <a:bodyPr/>
                    <a:lstStyle/>
                    <a:p>
                      <a:pPr algn="l">
                        <a:buNone/>
                      </a:pPr>
                      <a:r>
                        <a:rPr lang="en-US" sz="2000">
                          <a:effectLst/>
                          <a:latin typeface="Times New Roman" panose="02020603050405020304" pitchFamily="18" charset="0"/>
                          <a:cs typeface="Times New Roman" panose="02020603050405020304" pitchFamily="18" charset="0"/>
                        </a:rPr>
                        <a:t>Integer</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a:effectLst/>
                          <a:latin typeface="Times New Roman" panose="02020603050405020304" pitchFamily="18" charset="0"/>
                          <a:cs typeface="Times New Roman" panose="02020603050405020304" pitchFamily="18" charset="0"/>
                        </a:rPr>
                        <a:t>int8 to int256</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Signed int from 8 bits to 256 bits. int256 is the same as int.</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01397865"/>
                  </a:ext>
                </a:extLst>
              </a:tr>
              <a:tr h="422296">
                <a:tc>
                  <a:txBody>
                    <a:bodyPr/>
                    <a:lstStyle/>
                    <a:p>
                      <a:pPr algn="l">
                        <a:buNone/>
                      </a:pPr>
                      <a:r>
                        <a:rPr lang="en-US" sz="2000">
                          <a:effectLst/>
                          <a:latin typeface="Times New Roman" panose="02020603050405020304" pitchFamily="18" charset="0"/>
                          <a:cs typeface="Times New Roman" panose="02020603050405020304" pitchFamily="18" charset="0"/>
                        </a:rPr>
                        <a:t>Integer</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a:effectLst/>
                          <a:latin typeface="Times New Roman" panose="02020603050405020304" pitchFamily="18" charset="0"/>
                          <a:cs typeface="Times New Roman" panose="02020603050405020304" pitchFamily="18" charset="0"/>
                        </a:rPr>
                        <a:t>uint8 to uint256</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Unsigned int from 8 bits to 256 bits. uint256 is the same as </a:t>
                      </a:r>
                      <a:r>
                        <a:rPr lang="en-US" sz="2000" dirty="0" err="1">
                          <a:effectLst/>
                          <a:latin typeface="Times New Roman" panose="02020603050405020304" pitchFamily="18" charset="0"/>
                          <a:cs typeface="Times New Roman" panose="02020603050405020304" pitchFamily="18" charset="0"/>
                        </a:rPr>
                        <a:t>uint</a:t>
                      </a:r>
                      <a:r>
                        <a:rPr lang="en-US" sz="2000" dirty="0">
                          <a:effectLst/>
                          <a:latin typeface="Times New Roman" panose="02020603050405020304" pitchFamily="18" charset="0"/>
                          <a:cs typeface="Times New Roman" panose="02020603050405020304" pitchFamily="18" charset="0"/>
                        </a:rPr>
                        <a:t>.</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70858836"/>
                  </a:ext>
                </a:extLst>
              </a:tr>
              <a:tr h="833026">
                <a:tc>
                  <a:txBody>
                    <a:bodyPr/>
                    <a:lstStyle/>
                    <a:p>
                      <a:pPr algn="l">
                        <a:buNone/>
                      </a:pPr>
                      <a:r>
                        <a:rPr lang="en-US" sz="2000">
                          <a:effectLst/>
                          <a:latin typeface="Times New Roman" panose="02020603050405020304" pitchFamily="18" charset="0"/>
                          <a:cs typeface="Times New Roman" panose="02020603050405020304" pitchFamily="18" charset="0"/>
                        </a:rPr>
                        <a:t>Fixed Point Numbers</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a:effectLst/>
                          <a:latin typeface="Times New Roman" panose="02020603050405020304" pitchFamily="18" charset="0"/>
                          <a:cs typeface="Times New Roman" panose="02020603050405020304" pitchFamily="18" charset="0"/>
                        </a:rPr>
                        <a:t>fixed/unfixed</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Signed and unsigned fixed-point numbers of varying sizes.</a:t>
                      </a:r>
                    </a:p>
                  </a:txBody>
                  <a:tcPr marL="8584" marR="8584" marT="8584" marB="858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17421110"/>
                  </a:ext>
                </a:extLst>
              </a:tr>
            </a:tbl>
          </a:graphicData>
        </a:graphic>
      </p:graphicFrame>
    </p:spTree>
    <p:extLst>
      <p:ext uri="{BB962C8B-B14F-4D97-AF65-F5344CB8AC3E}">
        <p14:creationId xmlns:p14="http://schemas.microsoft.com/office/powerpoint/2010/main" val="3761906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B062C-4F73-15B2-ADD0-0953FB32A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96DC3-27F9-FF95-AFC9-A40F8CEF07A5}"/>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26D73671-732F-08E2-8BE8-49532876701D}"/>
              </a:ext>
            </a:extLst>
          </p:cNvPr>
          <p:cNvSpPr>
            <a:spLocks noGrp="1"/>
          </p:cNvSpPr>
          <p:nvPr>
            <p:ph type="subTitle" idx="1"/>
          </p:nvPr>
        </p:nvSpPr>
        <p:spPr>
          <a:xfrm>
            <a:off x="0" y="1392072"/>
            <a:ext cx="12191999" cy="5465928"/>
          </a:xfrm>
        </p:spPr>
        <p:txBody>
          <a:bodyPr>
            <a:normAutofit/>
          </a:bodyPr>
          <a:lstStyle/>
          <a:p>
            <a:pPr algn="l" fontAlgn="base">
              <a:lnSpc>
                <a:spcPct val="150000"/>
              </a:lnSpc>
              <a:spcBef>
                <a:spcPts val="0"/>
              </a:spcBef>
            </a:pPr>
            <a:r>
              <a:rPr lang="en-US" b="1" dirty="0">
                <a:latin typeface="Times New Roman" panose="02020603050405020304" pitchFamily="18" charset="0"/>
                <a:cs typeface="Times New Roman" panose="02020603050405020304" pitchFamily="18" charset="0"/>
              </a:rPr>
              <a:t>2. Reference Types</a:t>
            </a:r>
          </a:p>
          <a:p>
            <a:pPr marL="342900" indent="-342900" algn="l" fontAlgn="base">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Reference type variables store the location of the data. </a:t>
            </a:r>
          </a:p>
          <a:p>
            <a:pPr marL="342900" indent="-342900" algn="l" fontAlgn="base">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They don't share the data directly. </a:t>
            </a:r>
          </a:p>
          <a:p>
            <a:pPr marL="342900" indent="-342900" algn="l" fontAlgn="base">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With the help of reference type, two different variables can refer to the same location where any change in one variable can affect the other one. </a:t>
            </a:r>
          </a:p>
        </p:txBody>
      </p:sp>
      <p:sp>
        <p:nvSpPr>
          <p:cNvPr id="5" name="Slide Number Placeholder 4">
            <a:extLst>
              <a:ext uri="{FF2B5EF4-FFF2-40B4-BE49-F238E27FC236}">
                <a16:creationId xmlns:a16="http://schemas.microsoft.com/office/drawing/2014/main" id="{E6E7A9A8-5810-3D0C-D534-48A208FF9398}"/>
              </a:ext>
            </a:extLst>
          </p:cNvPr>
          <p:cNvSpPr>
            <a:spLocks noGrp="1"/>
          </p:cNvSpPr>
          <p:nvPr>
            <p:ph type="sldNum" sz="quarter" idx="12"/>
          </p:nvPr>
        </p:nvSpPr>
        <p:spPr/>
        <p:txBody>
          <a:bodyPr/>
          <a:lstStyle/>
          <a:p>
            <a:fld id="{C905212E-7E47-46B0-BE65-5B75620CD287}" type="slidenum">
              <a:rPr lang="en-IN" smtClean="0"/>
              <a:t>24</a:t>
            </a:fld>
            <a:endParaRPr lang="en-IN"/>
          </a:p>
        </p:txBody>
      </p:sp>
    </p:spTree>
    <p:extLst>
      <p:ext uri="{BB962C8B-B14F-4D97-AF65-F5344CB8AC3E}">
        <p14:creationId xmlns:p14="http://schemas.microsoft.com/office/powerpoint/2010/main" val="550722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F04DF-E1B4-6821-C252-32DB1AB59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45FA1-9906-67DE-7990-D049224874B2}"/>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DCCD99C6-FAC4-06D7-3B0F-74E541A46064}"/>
              </a:ext>
            </a:extLst>
          </p:cNvPr>
          <p:cNvSpPr>
            <a:spLocks noGrp="1"/>
          </p:cNvSpPr>
          <p:nvPr>
            <p:ph type="subTitle" idx="1"/>
          </p:nvPr>
        </p:nvSpPr>
        <p:spPr>
          <a:xfrm>
            <a:off x="0" y="1392072"/>
            <a:ext cx="12191999" cy="5465928"/>
          </a:xfrm>
        </p:spPr>
        <p:txBody>
          <a:bodyPr>
            <a:normAutofit fontScale="92500" lnSpcReduction="20000"/>
          </a:bodyPr>
          <a:lstStyle/>
          <a:p>
            <a:pPr algn="l" fontAlgn="base">
              <a:lnSpc>
                <a:spcPct val="150000"/>
              </a:lnSpc>
              <a:spcBef>
                <a:spcPts val="0"/>
              </a:spcBef>
            </a:pPr>
            <a:r>
              <a:rPr lang="en-US" b="1" dirty="0">
                <a:latin typeface="Times New Roman" panose="02020603050405020304" pitchFamily="18" charset="0"/>
                <a:cs typeface="Times New Roman" panose="02020603050405020304" pitchFamily="18" charset="0"/>
              </a:rPr>
              <a:t>Reference types in solidity are listed below: </a:t>
            </a:r>
          </a:p>
          <a:p>
            <a:pPr algn="l" fontAlgn="base">
              <a:lnSpc>
                <a:spcPct val="150000"/>
              </a:lnSpc>
              <a:spcBef>
                <a:spcPts val="0"/>
              </a:spcBef>
            </a:pPr>
            <a:r>
              <a:rPr lang="en-US" b="1" dirty="0">
                <a:latin typeface="Times New Roman" panose="02020603050405020304" pitchFamily="18" charset="0"/>
                <a:cs typeface="Times New Roman" panose="02020603050405020304" pitchFamily="18" charset="0"/>
              </a:rPr>
              <a:t>Arrays: </a:t>
            </a:r>
            <a:r>
              <a:rPr lang="en-US" dirty="0">
                <a:latin typeface="Times New Roman" panose="02020603050405020304" pitchFamily="18" charset="0"/>
                <a:cs typeface="Times New Roman" panose="02020603050405020304" pitchFamily="18" charset="0"/>
              </a:rPr>
              <a:t>An array is a group of variables of the same data type in which the variable has a particular location known as an index. By using the index location, the desired variable can be accessed. The array size can be fixed or dynamic.</a:t>
            </a:r>
          </a:p>
          <a:p>
            <a:pPr algn="l" fontAlgn="base">
              <a:lnSpc>
                <a:spcPct val="150000"/>
              </a:lnSpc>
              <a:spcBef>
                <a:spcPts val="0"/>
              </a:spcBef>
            </a:pPr>
            <a:r>
              <a:rPr lang="en-US" b="1" dirty="0">
                <a:latin typeface="Times New Roman" panose="02020603050405020304" pitchFamily="18" charset="0"/>
                <a:cs typeface="Times New Roman" panose="02020603050405020304" pitchFamily="18" charset="0"/>
              </a:rPr>
              <a:t>Strings: </a:t>
            </a:r>
            <a:r>
              <a:rPr lang="en-US" dirty="0">
                <a:latin typeface="Times New Roman" panose="02020603050405020304" pitchFamily="18" charset="0"/>
                <a:cs typeface="Times New Roman" panose="02020603050405020304" pitchFamily="18" charset="0"/>
              </a:rPr>
              <a:t>Strings are like arrays of characters. When we use them, we might occupy bigger or shorter storage space.</a:t>
            </a:r>
            <a:endParaRPr lang="en-US" b="1" dirty="0">
              <a:latin typeface="Times New Roman" panose="02020603050405020304" pitchFamily="18" charset="0"/>
              <a:cs typeface="Times New Roman" panose="02020603050405020304" pitchFamily="18" charset="0"/>
            </a:endParaRPr>
          </a:p>
          <a:p>
            <a:pPr algn="l" fontAlgn="base">
              <a:lnSpc>
                <a:spcPct val="150000"/>
              </a:lnSpc>
              <a:spcBef>
                <a:spcPts val="0"/>
              </a:spcBef>
            </a:pPr>
            <a:r>
              <a:rPr lang="en-US" b="1" dirty="0">
                <a:latin typeface="Times New Roman" panose="02020603050405020304" pitchFamily="18" charset="0"/>
                <a:cs typeface="Times New Roman" panose="02020603050405020304" pitchFamily="18" charset="0"/>
              </a:rPr>
              <a:t>Struct:</a:t>
            </a:r>
            <a:r>
              <a:rPr lang="en-US" dirty="0">
                <a:latin typeface="Times New Roman" panose="02020603050405020304" pitchFamily="18" charset="0"/>
                <a:cs typeface="Times New Roman" panose="02020603050405020304" pitchFamily="18" charset="0"/>
              </a:rPr>
              <a:t> Solidity allows users to create and define their own type in the form of structures. The structure is a group of different types even though it's not possible to contain a member of its own type. The structure is a reference type variable that can contain both value type and reference type</a:t>
            </a:r>
          </a:p>
          <a:p>
            <a:pPr algn="l" fontAlgn="base">
              <a:lnSpc>
                <a:spcPct val="150000"/>
              </a:lnSpc>
              <a:spcBef>
                <a:spcPts val="0"/>
              </a:spcBef>
            </a:pPr>
            <a:r>
              <a:rPr lang="en-US" b="1" dirty="0">
                <a:latin typeface="Times New Roman" panose="02020603050405020304" pitchFamily="18" charset="0"/>
                <a:cs typeface="Times New Roman" panose="02020603050405020304" pitchFamily="18" charset="0"/>
              </a:rPr>
              <a:t>Mapping:</a:t>
            </a:r>
            <a:r>
              <a:rPr lang="en-US" dirty="0">
                <a:latin typeface="Times New Roman" panose="02020603050405020304" pitchFamily="18" charset="0"/>
                <a:cs typeface="Times New Roman" panose="02020603050405020304" pitchFamily="18" charset="0"/>
              </a:rPr>
              <a:t> Mapping is the most used reference type, that stores the data in a key-value pair where a key can be any value type. It is like a hash table or dictionary as in any other programming language, where data can be retrieved by key.</a:t>
            </a:r>
          </a:p>
          <a:p>
            <a:pPr algn="l">
              <a:lnSpc>
                <a:spcPct val="150000"/>
              </a:lnSpc>
              <a:spcBef>
                <a:spcPts val="0"/>
              </a:spcBef>
            </a:pPr>
            <a:endParaRPr lang="en-IN" sz="1800" dirty="0">
              <a:solidFill>
                <a:srgbClr val="0070C0"/>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FACC82E-FAE0-C74A-74CD-DFB2FAE43720}"/>
              </a:ext>
            </a:extLst>
          </p:cNvPr>
          <p:cNvSpPr>
            <a:spLocks noGrp="1"/>
          </p:cNvSpPr>
          <p:nvPr>
            <p:ph type="sldNum" sz="quarter" idx="12"/>
          </p:nvPr>
        </p:nvSpPr>
        <p:spPr/>
        <p:txBody>
          <a:bodyPr/>
          <a:lstStyle/>
          <a:p>
            <a:fld id="{C905212E-7E47-46B0-BE65-5B75620CD287}" type="slidenum">
              <a:rPr lang="en-IN" smtClean="0"/>
              <a:t>25</a:t>
            </a:fld>
            <a:endParaRPr lang="en-IN"/>
          </a:p>
        </p:txBody>
      </p:sp>
    </p:spTree>
    <p:extLst>
      <p:ext uri="{BB962C8B-B14F-4D97-AF65-F5344CB8AC3E}">
        <p14:creationId xmlns:p14="http://schemas.microsoft.com/office/powerpoint/2010/main" val="886430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BC2FF-D9CF-0E30-71D0-1F8B78BF8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7EBA8-2245-599D-C6F4-F1751E25EA1D}"/>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Solidity Types</a:t>
            </a:r>
            <a:endParaRPr lang="en-IN" dirty="0"/>
          </a:p>
        </p:txBody>
      </p:sp>
      <p:sp>
        <p:nvSpPr>
          <p:cNvPr id="3" name="Subtitle 2">
            <a:extLst>
              <a:ext uri="{FF2B5EF4-FFF2-40B4-BE49-F238E27FC236}">
                <a16:creationId xmlns:a16="http://schemas.microsoft.com/office/drawing/2014/main" id="{70387558-A82E-231C-567F-E1E19A0F15CA}"/>
              </a:ext>
            </a:extLst>
          </p:cNvPr>
          <p:cNvSpPr>
            <a:spLocks noGrp="1"/>
          </p:cNvSpPr>
          <p:nvPr>
            <p:ph type="subTitle" idx="1"/>
          </p:nvPr>
        </p:nvSpPr>
        <p:spPr>
          <a:xfrm>
            <a:off x="0" y="1392072"/>
            <a:ext cx="12191999" cy="5465928"/>
          </a:xfrm>
        </p:spPr>
        <p:txBody>
          <a:bodyPr numCol="2">
            <a:noAutofit/>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The contract Types initialize the values of various Reference Types.</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SPDX</a:t>
            </a:r>
            <a:r>
              <a:rPr lang="en-US" sz="2000" dirty="0">
                <a:latin typeface="Times New Roman" panose="02020603050405020304" pitchFamily="18" charset="0"/>
                <a:cs typeface="Times New Roman" panose="02020603050405020304" pitchFamily="18" charset="0"/>
              </a:rPr>
              <a:t>-License-Identifier: GPL-3.0 </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pragma solidity &gt;=0.4.22 &lt;0.9.0;  </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//A contract for demonstrate Reference types</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contract </a:t>
            </a:r>
            <a:r>
              <a:rPr lang="en-US" sz="2000" dirty="0" err="1">
                <a:latin typeface="Times New Roman" panose="02020603050405020304" pitchFamily="18" charset="0"/>
                <a:cs typeface="Times New Roman" panose="02020603050405020304" pitchFamily="18" charset="0"/>
              </a:rPr>
              <a:t>mapping_example</a:t>
            </a:r>
            <a:r>
              <a:rPr lang="en-US" sz="2000" dirty="0">
                <a:latin typeface="Times New Roman" panose="02020603050405020304" pitchFamily="18" charset="0"/>
                <a:cs typeface="Times New Roman" panose="02020603050405020304" pitchFamily="18" charset="0"/>
              </a:rPr>
              <a:t> {</a:t>
            </a:r>
          </a:p>
          <a:p>
            <a:pPr algn="l">
              <a:lnSpc>
                <a:spcPct val="100000"/>
              </a:lnSpc>
              <a:spcBef>
                <a:spcPts val="0"/>
              </a:spcBef>
            </a:pPr>
            <a:r>
              <a:rPr lang="en-US" sz="2000" dirty="0" err="1">
                <a:latin typeface="Times New Roman" panose="02020603050405020304" pitchFamily="18" charset="0"/>
                <a:cs typeface="Times New Roman" panose="02020603050405020304" pitchFamily="18" charset="0"/>
              </a:rPr>
              <a:t>uint</a:t>
            </a:r>
            <a:r>
              <a:rPr lang="en-US" sz="2000" dirty="0">
                <a:latin typeface="Times New Roman" panose="02020603050405020304" pitchFamily="18" charset="0"/>
                <a:cs typeface="Times New Roman" panose="02020603050405020304" pitchFamily="18" charset="0"/>
              </a:rPr>
              <a:t>[5] public array= [</a:t>
            </a:r>
            <a:r>
              <a:rPr lang="en-US" sz="2000" dirty="0" err="1">
                <a:latin typeface="Times New Roman" panose="02020603050405020304" pitchFamily="18" charset="0"/>
                <a:cs typeface="Times New Roman" panose="02020603050405020304" pitchFamily="18" charset="0"/>
              </a:rPr>
              <a:t>uint</a:t>
            </a:r>
            <a:r>
              <a:rPr lang="en-US" sz="2000" dirty="0">
                <a:latin typeface="Times New Roman" panose="02020603050405020304" pitchFamily="18" charset="0"/>
                <a:cs typeface="Times New Roman" panose="02020603050405020304" pitchFamily="18" charset="0"/>
              </a:rPr>
              <a:t>(1), 2, 3, 4, 5]; // Defining an array</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 Defining a Structure</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struct student {</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string name;</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string subject;</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uint8 marks;</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a:t>
            </a:r>
          </a:p>
          <a:p>
            <a:pPr algn="l">
              <a:lnSpc>
                <a:spcPct val="100000"/>
              </a:lnSpc>
              <a:spcBef>
                <a:spcPts val="0"/>
              </a:spcBef>
            </a:pPr>
            <a:endParaRPr lang="en-US" sz="2000" dirty="0">
              <a:latin typeface="Times New Roman" panose="02020603050405020304" pitchFamily="18" charset="0"/>
              <a:cs typeface="Times New Roman" panose="02020603050405020304" pitchFamily="18" charset="0"/>
            </a:endParaRPr>
          </a:p>
          <a:p>
            <a:pPr algn="l">
              <a:lnSpc>
                <a:spcPct val="100000"/>
              </a:lnSpc>
              <a:spcBef>
                <a:spcPts val="0"/>
              </a:spcBef>
            </a:pPr>
            <a:endParaRPr lang="en-US" sz="2000" dirty="0">
              <a:latin typeface="Times New Roman" panose="02020603050405020304" pitchFamily="18" charset="0"/>
              <a:cs typeface="Times New Roman" panose="02020603050405020304" pitchFamily="18" charset="0"/>
            </a:endParaRP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 Creating a structure object</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student public std1;</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 Defining a function to return values of the elements of the structure</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function structure() public returns(string memory, string memory, </a:t>
            </a:r>
            <a:r>
              <a:rPr lang="en-US" sz="2000" dirty="0" err="1">
                <a:latin typeface="Times New Roman" panose="02020603050405020304" pitchFamily="18" charset="0"/>
                <a:cs typeface="Times New Roman" panose="02020603050405020304" pitchFamily="18" charset="0"/>
              </a:rPr>
              <a:t>uint</a:t>
            </a:r>
            <a:r>
              <a:rPr lang="en-US" sz="2000" dirty="0">
                <a:latin typeface="Times New Roman" panose="02020603050405020304" pitchFamily="18" charset="0"/>
                <a:cs typeface="Times New Roman" panose="02020603050405020304" pitchFamily="18" charset="0"/>
              </a:rPr>
              <a:t>){</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std1.name = "John";</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std1.subject = "Chemistry";</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std1.marks = 88;</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return (</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std1.name, std1.subject, std1.marks);</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 Creating a mapping</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mapping (address =&gt; student) result;</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    address[] </a:t>
            </a:r>
            <a:r>
              <a:rPr lang="en-US" sz="2000" dirty="0" err="1">
                <a:latin typeface="Times New Roman" panose="02020603050405020304" pitchFamily="18" charset="0"/>
                <a:cs typeface="Times New Roman" panose="02020603050405020304" pitchFamily="18" charset="0"/>
              </a:rPr>
              <a:t>student_result</a:t>
            </a:r>
            <a:r>
              <a:rPr lang="en-US" sz="2000" dirty="0">
                <a:latin typeface="Times New Roman" panose="02020603050405020304" pitchFamily="18" charset="0"/>
                <a:cs typeface="Times New Roman" panose="02020603050405020304" pitchFamily="18" charset="0"/>
              </a:rPr>
              <a:t>;</a:t>
            </a:r>
          </a:p>
          <a:p>
            <a:pPr algn="l">
              <a:lnSpc>
                <a:spcPct val="100000"/>
              </a:lnSpc>
              <a:spcBef>
                <a:spcPts val="0"/>
              </a:spcBef>
            </a:pP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79B4766-F576-202C-FCE5-AEAB6FD68757}"/>
              </a:ext>
            </a:extLst>
          </p:cNvPr>
          <p:cNvSpPr>
            <a:spLocks noGrp="1"/>
          </p:cNvSpPr>
          <p:nvPr>
            <p:ph type="sldNum" sz="quarter" idx="12"/>
          </p:nvPr>
        </p:nvSpPr>
        <p:spPr/>
        <p:txBody>
          <a:bodyPr/>
          <a:lstStyle/>
          <a:p>
            <a:fld id="{C905212E-7E47-46B0-BE65-5B75620CD287}" type="slidenum">
              <a:rPr lang="en-IN" smtClean="0"/>
              <a:t>26</a:t>
            </a:fld>
            <a:endParaRPr lang="en-IN"/>
          </a:p>
        </p:txBody>
      </p:sp>
    </p:spTree>
    <p:extLst>
      <p:ext uri="{BB962C8B-B14F-4D97-AF65-F5344CB8AC3E}">
        <p14:creationId xmlns:p14="http://schemas.microsoft.com/office/powerpoint/2010/main" val="3721801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776E8-C0E3-9389-A158-116B3F51F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2AAE02-34B5-50E2-E7F4-BFDB1F3351E7}"/>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Naming Convention of Variable</a:t>
            </a:r>
            <a:endParaRPr lang="en-IN" dirty="0"/>
          </a:p>
        </p:txBody>
      </p:sp>
      <p:sp>
        <p:nvSpPr>
          <p:cNvPr id="3" name="Subtitle 2">
            <a:extLst>
              <a:ext uri="{FF2B5EF4-FFF2-40B4-BE49-F238E27FC236}">
                <a16:creationId xmlns:a16="http://schemas.microsoft.com/office/drawing/2014/main" id="{D23CBDF8-4B7E-6604-C9C5-CF32344B5861}"/>
              </a:ext>
            </a:extLst>
          </p:cNvPr>
          <p:cNvSpPr>
            <a:spLocks noGrp="1"/>
          </p:cNvSpPr>
          <p:nvPr>
            <p:ph type="subTitle" idx="1"/>
          </p:nvPr>
        </p:nvSpPr>
        <p:spPr>
          <a:xfrm>
            <a:off x="0" y="1392072"/>
            <a:ext cx="12191999" cy="5465928"/>
          </a:xfrm>
        </p:spPr>
        <p:txBody>
          <a:bodyPr>
            <a:normAutofit/>
          </a:bodyPr>
          <a:lstStyle/>
          <a:p>
            <a:pPr algn="l"/>
            <a:r>
              <a:rPr lang="en-US" dirty="0">
                <a:latin typeface="Times New Roman" panose="02020603050405020304" pitchFamily="18" charset="0"/>
                <a:cs typeface="Times New Roman" panose="02020603050405020304" pitchFamily="18" charset="0"/>
              </a:rPr>
              <a:t>While naming your variables in Solidity, keep the following rules in mind.</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variable name should start with an alphabet. It can be alpha-numeric.</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Variable names should not start with a numeral (0-9).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variable name can not have any special symbol only underscore are allowed.</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They must begin with a letter or an underscore character.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variable name should not have any blank space.</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Variable name can not take as reserved words (keywords). </a:t>
            </a:r>
          </a:p>
          <a:p>
            <a:pPr marL="342900" indent="-3429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Solidity variable names are case-sensitive. </a:t>
            </a:r>
          </a:p>
          <a:p>
            <a:pPr algn="l"/>
            <a:endParaRPr lang="en-US"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l">
              <a:lnSpc>
                <a:spcPct val="150000"/>
              </a:lnSpc>
              <a:spcBef>
                <a:spcPts val="0"/>
              </a:spcBef>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8E11A16-6B77-1F8E-56CE-0EB2B6F5D4E6}"/>
              </a:ext>
            </a:extLst>
          </p:cNvPr>
          <p:cNvSpPr>
            <a:spLocks noGrp="1"/>
          </p:cNvSpPr>
          <p:nvPr>
            <p:ph type="sldNum" sz="quarter" idx="12"/>
          </p:nvPr>
        </p:nvSpPr>
        <p:spPr/>
        <p:txBody>
          <a:bodyPr/>
          <a:lstStyle/>
          <a:p>
            <a:fld id="{C905212E-7E47-46B0-BE65-5B75620CD287}" type="slidenum">
              <a:rPr lang="en-IN" smtClean="0"/>
              <a:t>27</a:t>
            </a:fld>
            <a:endParaRPr lang="en-IN"/>
          </a:p>
        </p:txBody>
      </p:sp>
    </p:spTree>
    <p:extLst>
      <p:ext uri="{BB962C8B-B14F-4D97-AF65-F5344CB8AC3E}">
        <p14:creationId xmlns:p14="http://schemas.microsoft.com/office/powerpoint/2010/main" val="19617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1000"/>
                                        <p:tgtEl>
                                          <p:spTgt spid="3">
                                            <p:txEl>
                                              <p:pRg st="3" end="3"/>
                                            </p:txEl>
                                          </p:spTgt>
                                        </p:tgtEl>
                                      </p:cBhvr>
                                    </p:animEffect>
                                    <p:anim calcmode="lin" valueType="num">
                                      <p:cBhvr>
                                        <p:cTn id="4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65280-E3EA-5066-93BB-1F6D91180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31A97-56F3-426C-0C58-82DF07023984}"/>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Types of Variable</a:t>
            </a:r>
            <a:endParaRPr lang="en-IN" dirty="0"/>
          </a:p>
        </p:txBody>
      </p:sp>
      <p:sp>
        <p:nvSpPr>
          <p:cNvPr id="3" name="Subtitle 2">
            <a:extLst>
              <a:ext uri="{FF2B5EF4-FFF2-40B4-BE49-F238E27FC236}">
                <a16:creationId xmlns:a16="http://schemas.microsoft.com/office/drawing/2014/main" id="{52A7870D-676D-4955-82F5-467573084C05}"/>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Solidity supports three types of variables.</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1. State variables:</a:t>
            </a:r>
            <a:r>
              <a:rPr lang="en-US" dirty="0">
                <a:latin typeface="Times New Roman" panose="02020603050405020304" pitchFamily="18" charset="0"/>
                <a:cs typeface="Times New Roman" panose="02020603050405020304" pitchFamily="18" charset="0"/>
              </a:rPr>
              <a:t> Variable whose values are permanently stored in a contract storage.</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2. Local Variables:</a:t>
            </a:r>
            <a:r>
              <a:rPr lang="en-US" dirty="0">
                <a:latin typeface="Times New Roman" panose="02020603050405020304" pitchFamily="18" charset="0"/>
                <a:cs typeface="Times New Roman" panose="02020603050405020304" pitchFamily="18" charset="0"/>
              </a:rPr>
              <a:t> Variables whose values are present till function is executing.</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3. Global Variables:</a:t>
            </a:r>
            <a:r>
              <a:rPr lang="en-US" dirty="0">
                <a:latin typeface="Times New Roman" panose="02020603050405020304" pitchFamily="18" charset="0"/>
                <a:cs typeface="Times New Roman" panose="02020603050405020304" pitchFamily="18" charset="0"/>
              </a:rPr>
              <a:t> Special variables exists in the global namespace used to get information about the blockchain.</a:t>
            </a:r>
          </a:p>
          <a:p>
            <a:pPr algn="l">
              <a:lnSpc>
                <a:spcPct val="150000"/>
              </a:lnSpc>
              <a:spcBef>
                <a:spcPts val="0"/>
              </a:spcBef>
            </a:pPr>
            <a:r>
              <a:rPr lang="en-US" dirty="0">
                <a:latin typeface="Times New Roman" panose="02020603050405020304" pitchFamily="18" charset="0"/>
                <a:cs typeface="Times New Roman" panose="02020603050405020304" pitchFamily="18" charset="0"/>
              </a:rPr>
              <a:t>Solidity is a </a:t>
            </a:r>
            <a:r>
              <a:rPr lang="en-US" b="1" dirty="0">
                <a:latin typeface="Times New Roman" panose="02020603050405020304" pitchFamily="18" charset="0"/>
                <a:cs typeface="Times New Roman" panose="02020603050405020304" pitchFamily="18" charset="0"/>
              </a:rPr>
              <a:t>statically</a:t>
            </a:r>
            <a:r>
              <a:rPr lang="en-US" dirty="0">
                <a:latin typeface="Times New Roman" panose="02020603050405020304" pitchFamily="18" charset="0"/>
                <a:cs typeface="Times New Roman" panose="02020603050405020304" pitchFamily="18" charset="0"/>
              </a:rPr>
              <a:t> typed language, which means that the state or local variable type needs to be specified during declaration.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Each declared variable always have a default value based on its type.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There is no concept of "undefined" or "null".</a:t>
            </a:r>
          </a:p>
          <a:p>
            <a:pPr algn="l">
              <a:lnSpc>
                <a:spcPct val="150000"/>
              </a:lnSpc>
              <a:spcBef>
                <a:spcPts val="0"/>
              </a:spcBef>
            </a:pP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F8094BB-85E7-0E6B-1BD5-1609E7ED8D62}"/>
              </a:ext>
            </a:extLst>
          </p:cNvPr>
          <p:cNvSpPr>
            <a:spLocks noGrp="1"/>
          </p:cNvSpPr>
          <p:nvPr>
            <p:ph type="sldNum" sz="quarter" idx="12"/>
          </p:nvPr>
        </p:nvSpPr>
        <p:spPr/>
        <p:txBody>
          <a:bodyPr/>
          <a:lstStyle/>
          <a:p>
            <a:fld id="{C905212E-7E47-46B0-BE65-5B75620CD287}" type="slidenum">
              <a:rPr lang="en-IN" smtClean="0"/>
              <a:t>28</a:t>
            </a:fld>
            <a:endParaRPr lang="en-IN"/>
          </a:p>
        </p:txBody>
      </p:sp>
    </p:spTree>
    <p:extLst>
      <p:ext uri="{BB962C8B-B14F-4D97-AF65-F5344CB8AC3E}">
        <p14:creationId xmlns:p14="http://schemas.microsoft.com/office/powerpoint/2010/main" val="698550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D5B09-8FE8-0EAB-3841-B76CD8B52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94258-526F-ED46-7CF8-D1BC25B49567}"/>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1. State Variable</a:t>
            </a:r>
            <a:endParaRPr lang="en-IN" dirty="0"/>
          </a:p>
        </p:txBody>
      </p:sp>
      <p:sp>
        <p:nvSpPr>
          <p:cNvPr id="3" name="Subtitle 2">
            <a:extLst>
              <a:ext uri="{FF2B5EF4-FFF2-40B4-BE49-F238E27FC236}">
                <a16:creationId xmlns:a16="http://schemas.microsoft.com/office/drawing/2014/main" id="{9C48227F-A7B6-A825-5C5A-CFDD17DAA604}"/>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dirty="0">
                <a:latin typeface="Times New Roman" panose="02020603050405020304" pitchFamily="18" charset="0"/>
                <a:cs typeface="Times New Roman" panose="02020603050405020304" pitchFamily="18" charset="0"/>
              </a:rPr>
              <a:t>Variables whose values are permanently stored in a contract storage.</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9A6E108-CC6A-49DF-6B1D-EE70FD4CDDB1}"/>
              </a:ext>
            </a:extLst>
          </p:cNvPr>
          <p:cNvSpPr>
            <a:spLocks noGrp="1"/>
          </p:cNvSpPr>
          <p:nvPr>
            <p:ph type="sldNum" sz="quarter" idx="12"/>
          </p:nvPr>
        </p:nvSpPr>
        <p:spPr/>
        <p:txBody>
          <a:bodyPr/>
          <a:lstStyle/>
          <a:p>
            <a:fld id="{C905212E-7E47-46B0-BE65-5B75620CD287}" type="slidenum">
              <a:rPr lang="en-IN" smtClean="0"/>
              <a:t>29</a:t>
            </a:fld>
            <a:endParaRPr lang="en-IN"/>
          </a:p>
        </p:txBody>
      </p:sp>
      <p:pic>
        <p:nvPicPr>
          <p:cNvPr id="9" name="Picture 8">
            <a:extLst>
              <a:ext uri="{FF2B5EF4-FFF2-40B4-BE49-F238E27FC236}">
                <a16:creationId xmlns:a16="http://schemas.microsoft.com/office/drawing/2014/main" id="{8207C072-8041-A6B4-E419-BFEAEF674358}"/>
              </a:ext>
            </a:extLst>
          </p:cNvPr>
          <p:cNvPicPr>
            <a:picLocks noChangeAspect="1"/>
          </p:cNvPicPr>
          <p:nvPr/>
        </p:nvPicPr>
        <p:blipFill>
          <a:blip r:embed="rId2"/>
          <a:stretch>
            <a:fillRect/>
          </a:stretch>
        </p:blipFill>
        <p:spPr>
          <a:xfrm>
            <a:off x="1140372" y="2248265"/>
            <a:ext cx="8807669" cy="2680594"/>
          </a:xfrm>
          <a:prstGeom prst="rect">
            <a:avLst/>
          </a:prstGeom>
        </p:spPr>
      </p:pic>
    </p:spTree>
    <p:extLst>
      <p:ext uri="{BB962C8B-B14F-4D97-AF65-F5344CB8AC3E}">
        <p14:creationId xmlns:p14="http://schemas.microsoft.com/office/powerpoint/2010/main" val="4114288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86FF9-288E-DA56-A5C4-83291D844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633A2-E1E9-A997-4FF9-038D6BCC435E}"/>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2. Local Variable</a:t>
            </a:r>
            <a:endParaRPr lang="en-IN" dirty="0"/>
          </a:p>
        </p:txBody>
      </p:sp>
      <p:sp>
        <p:nvSpPr>
          <p:cNvPr id="3" name="Subtitle 2">
            <a:extLst>
              <a:ext uri="{FF2B5EF4-FFF2-40B4-BE49-F238E27FC236}">
                <a16:creationId xmlns:a16="http://schemas.microsoft.com/office/drawing/2014/main" id="{C553B1BB-9504-D93F-59F2-58316BBC8B9D}"/>
              </a:ext>
            </a:extLst>
          </p:cNvPr>
          <p:cNvSpPr>
            <a:spLocks noGrp="1"/>
          </p:cNvSpPr>
          <p:nvPr>
            <p:ph type="subTitle" idx="1"/>
          </p:nvPr>
        </p:nvSpPr>
        <p:spPr>
          <a:xfrm>
            <a:off x="0" y="1392072"/>
            <a:ext cx="12191999" cy="5465928"/>
          </a:xfrm>
        </p:spPr>
        <p:txBody>
          <a:bodyPr>
            <a:normAutofit/>
          </a:bodyPr>
          <a:lstStyle/>
          <a:p>
            <a:pPr algn="l">
              <a:lnSpc>
                <a:spcPct val="150000"/>
              </a:lnSpc>
              <a:spcBef>
                <a:spcPts val="0"/>
              </a:spcBef>
            </a:pPr>
            <a:r>
              <a:rPr lang="en-US" dirty="0">
                <a:latin typeface="Times New Roman" panose="02020603050405020304" pitchFamily="18" charset="0"/>
                <a:cs typeface="Times New Roman" panose="02020603050405020304" pitchFamily="18" charset="0"/>
              </a:rPr>
              <a:t>Variables whose values are available only within a function where it is defined. </a:t>
            </a:r>
          </a:p>
          <a:p>
            <a:pPr algn="l">
              <a:lnSpc>
                <a:spcPct val="150000"/>
              </a:lnSpc>
              <a:spcBef>
                <a:spcPts val="0"/>
              </a:spcBef>
            </a:pPr>
            <a:r>
              <a:rPr lang="en-US" dirty="0">
                <a:latin typeface="Times New Roman" panose="02020603050405020304" pitchFamily="18" charset="0"/>
                <a:cs typeface="Times New Roman" panose="02020603050405020304" pitchFamily="18" charset="0"/>
              </a:rPr>
              <a:t>Function parameters are always local to that function.</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AA3A622-462F-C042-39D4-D93D4BCBEFC4}"/>
              </a:ext>
            </a:extLst>
          </p:cNvPr>
          <p:cNvSpPr>
            <a:spLocks noGrp="1"/>
          </p:cNvSpPr>
          <p:nvPr>
            <p:ph type="sldNum" sz="quarter" idx="12"/>
          </p:nvPr>
        </p:nvSpPr>
        <p:spPr/>
        <p:txBody>
          <a:bodyPr/>
          <a:lstStyle/>
          <a:p>
            <a:fld id="{C905212E-7E47-46B0-BE65-5B75620CD287}" type="slidenum">
              <a:rPr lang="en-IN" smtClean="0"/>
              <a:t>30</a:t>
            </a:fld>
            <a:endParaRPr lang="en-IN"/>
          </a:p>
        </p:txBody>
      </p:sp>
      <p:pic>
        <p:nvPicPr>
          <p:cNvPr id="7" name="Picture 6">
            <a:extLst>
              <a:ext uri="{FF2B5EF4-FFF2-40B4-BE49-F238E27FC236}">
                <a16:creationId xmlns:a16="http://schemas.microsoft.com/office/drawing/2014/main" id="{E4675D5D-256A-8F9E-BB83-B454A4BB3293}"/>
              </a:ext>
            </a:extLst>
          </p:cNvPr>
          <p:cNvPicPr>
            <a:picLocks noChangeAspect="1"/>
          </p:cNvPicPr>
          <p:nvPr/>
        </p:nvPicPr>
        <p:blipFill>
          <a:blip r:embed="rId2"/>
          <a:stretch>
            <a:fillRect/>
          </a:stretch>
        </p:blipFill>
        <p:spPr>
          <a:xfrm>
            <a:off x="2044261" y="2681693"/>
            <a:ext cx="6978869" cy="3580994"/>
          </a:xfrm>
          <a:prstGeom prst="rect">
            <a:avLst/>
          </a:prstGeom>
        </p:spPr>
      </p:pic>
    </p:spTree>
    <p:extLst>
      <p:ext uri="{BB962C8B-B14F-4D97-AF65-F5344CB8AC3E}">
        <p14:creationId xmlns:p14="http://schemas.microsoft.com/office/powerpoint/2010/main" val="25071429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4FF4-9358-F83D-9036-6517FB0CA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D99A3-D6C9-D04A-168F-4ABFD4159902}"/>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3. Global Variable</a:t>
            </a:r>
            <a:endParaRPr lang="en-IN" dirty="0"/>
          </a:p>
        </p:txBody>
      </p:sp>
      <p:sp>
        <p:nvSpPr>
          <p:cNvPr id="3" name="Subtitle 2">
            <a:extLst>
              <a:ext uri="{FF2B5EF4-FFF2-40B4-BE49-F238E27FC236}">
                <a16:creationId xmlns:a16="http://schemas.microsoft.com/office/drawing/2014/main" id="{0ECA9B98-4929-34F2-6E91-90C73D05E681}"/>
              </a:ext>
            </a:extLst>
          </p:cNvPr>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are special variables which exist in global workspace.</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information about the blockchain and transaction properties.</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CF6BAA4-6AEA-E395-618E-A31AA86CCB7C}"/>
              </a:ext>
            </a:extLst>
          </p:cNvPr>
          <p:cNvSpPr>
            <a:spLocks noGrp="1"/>
          </p:cNvSpPr>
          <p:nvPr>
            <p:ph type="sldNum" sz="quarter" idx="12"/>
          </p:nvPr>
        </p:nvSpPr>
        <p:spPr/>
        <p:txBody>
          <a:bodyPr/>
          <a:lstStyle/>
          <a:p>
            <a:fld id="{C905212E-7E47-46B0-BE65-5B75620CD287}" type="slidenum">
              <a:rPr lang="en-IN" smtClean="0"/>
              <a:t>31</a:t>
            </a:fld>
            <a:endParaRPr lang="en-IN"/>
          </a:p>
        </p:txBody>
      </p:sp>
      <p:graphicFrame>
        <p:nvGraphicFramePr>
          <p:cNvPr id="4" name="Table 3">
            <a:extLst>
              <a:ext uri="{FF2B5EF4-FFF2-40B4-BE49-F238E27FC236}">
                <a16:creationId xmlns:a16="http://schemas.microsoft.com/office/drawing/2014/main" id="{1B2747A4-29A9-4E56-DDBD-B673E5D25972}"/>
              </a:ext>
            </a:extLst>
          </p:cNvPr>
          <p:cNvGraphicFramePr>
            <a:graphicFrameLocks noGrp="1"/>
          </p:cNvGraphicFramePr>
          <p:nvPr>
            <p:extLst>
              <p:ext uri="{D42A27DB-BD31-4B8C-83A1-F6EECF244321}">
                <p14:modId xmlns:p14="http://schemas.microsoft.com/office/powerpoint/2010/main" val="553625392"/>
              </p:ext>
            </p:extLst>
          </p:nvPr>
        </p:nvGraphicFramePr>
        <p:xfrm>
          <a:off x="1413642" y="2550893"/>
          <a:ext cx="10304078" cy="4024359"/>
        </p:xfrm>
        <a:graphic>
          <a:graphicData uri="http://schemas.openxmlformats.org/drawingml/2006/table">
            <a:tbl>
              <a:tblPr/>
              <a:tblGrid>
                <a:gridCol w="4870260">
                  <a:extLst>
                    <a:ext uri="{9D8B030D-6E8A-4147-A177-3AD203B41FA5}">
                      <a16:colId xmlns:a16="http://schemas.microsoft.com/office/drawing/2014/main" val="1197364485"/>
                    </a:ext>
                  </a:extLst>
                </a:gridCol>
                <a:gridCol w="5433818">
                  <a:extLst>
                    <a:ext uri="{9D8B030D-6E8A-4147-A177-3AD203B41FA5}">
                      <a16:colId xmlns:a16="http://schemas.microsoft.com/office/drawing/2014/main" val="2204323666"/>
                    </a:ext>
                  </a:extLst>
                </a:gridCol>
              </a:tblGrid>
              <a:tr h="448266">
                <a:tc>
                  <a:txBody>
                    <a:bodyPr/>
                    <a:lstStyle/>
                    <a:p>
                      <a:pPr algn="ctr">
                        <a:buNone/>
                      </a:pPr>
                      <a:r>
                        <a:rPr lang="en-US" sz="2000" b="1" dirty="0">
                          <a:solidFill>
                            <a:srgbClr val="000000"/>
                          </a:solidFill>
                          <a:effectLst/>
                          <a:latin typeface="Times New Roman" panose="02020603050405020304" pitchFamily="18" charset="0"/>
                          <a:cs typeface="Times New Roman" panose="02020603050405020304" pitchFamily="18" charset="0"/>
                        </a:rPr>
                        <a:t>Name</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buNone/>
                      </a:pPr>
                      <a:r>
                        <a:rPr lang="en-US" sz="2000" b="1" dirty="0">
                          <a:solidFill>
                            <a:srgbClr val="000000"/>
                          </a:solidFill>
                          <a:effectLst/>
                          <a:latin typeface="Times New Roman" panose="02020603050405020304" pitchFamily="18" charset="0"/>
                          <a:cs typeface="Times New Roman" panose="02020603050405020304" pitchFamily="18" charset="0"/>
                        </a:rPr>
                        <a:t>Returns</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203442209"/>
                  </a:ext>
                </a:extLst>
              </a:tr>
              <a:tr h="695227">
                <a:tc>
                  <a:txBody>
                    <a:bodyPr/>
                    <a:lstStyle/>
                    <a:p>
                      <a:pPr algn="l">
                        <a:buNone/>
                      </a:pPr>
                      <a:r>
                        <a:rPr lang="en-US" sz="2000" dirty="0" err="1">
                          <a:effectLst/>
                          <a:latin typeface="Times New Roman" panose="02020603050405020304" pitchFamily="18" charset="0"/>
                          <a:cs typeface="Times New Roman" panose="02020603050405020304" pitchFamily="18" charset="0"/>
                        </a:rPr>
                        <a:t>blockhash</a:t>
                      </a:r>
                      <a:r>
                        <a:rPr lang="en-US" sz="2000" dirty="0">
                          <a:effectLst/>
                          <a:latin typeface="Times New Roman" panose="02020603050405020304" pitchFamily="18" charset="0"/>
                          <a:cs typeface="Times New Roman" panose="02020603050405020304" pitchFamily="18" charset="0"/>
                        </a:rPr>
                        <a:t>(</a:t>
                      </a:r>
                      <a:r>
                        <a:rPr lang="en-US" sz="2000" dirty="0" err="1">
                          <a:effectLst/>
                          <a:latin typeface="Times New Roman" panose="02020603050405020304" pitchFamily="18" charset="0"/>
                          <a:cs typeface="Times New Roman" panose="02020603050405020304" pitchFamily="18" charset="0"/>
                        </a:rPr>
                        <a:t>uint</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blockNumber</a:t>
                      </a:r>
                      <a:r>
                        <a:rPr lang="en-US" sz="2000" dirty="0">
                          <a:effectLst/>
                          <a:latin typeface="Times New Roman" panose="02020603050405020304" pitchFamily="18" charset="0"/>
                          <a:cs typeface="Times New Roman" panose="02020603050405020304" pitchFamily="18" charset="0"/>
                        </a:rPr>
                        <a:t>) returns (bytes32)</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Hash of the given block - only works for 256 most recent, excluding current, blocks</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30713819"/>
                  </a:ext>
                </a:extLst>
              </a:tr>
              <a:tr h="448266">
                <a:tc>
                  <a:txBody>
                    <a:bodyPr/>
                    <a:lstStyle/>
                    <a:p>
                      <a:pPr algn="l">
                        <a:buNone/>
                      </a:pPr>
                      <a:r>
                        <a:rPr lang="en-US" sz="2000" dirty="0" err="1">
                          <a:effectLst/>
                          <a:latin typeface="Times New Roman" panose="02020603050405020304" pitchFamily="18" charset="0"/>
                          <a:cs typeface="Times New Roman" panose="02020603050405020304" pitchFamily="18" charset="0"/>
                        </a:rPr>
                        <a:t>block.coinbase</a:t>
                      </a:r>
                      <a:r>
                        <a:rPr lang="en-US" sz="2000" dirty="0">
                          <a:effectLst/>
                          <a:latin typeface="Times New Roman" panose="02020603050405020304" pitchFamily="18" charset="0"/>
                          <a:cs typeface="Times New Roman" panose="02020603050405020304" pitchFamily="18" charset="0"/>
                        </a:rPr>
                        <a:t> (address payable)</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block miner's address</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93543907"/>
                  </a:ext>
                </a:extLst>
              </a:tr>
              <a:tr h="448266">
                <a:tc>
                  <a:txBody>
                    <a:bodyPr/>
                    <a:lstStyle/>
                    <a:p>
                      <a:pPr algn="l">
                        <a:buNone/>
                      </a:pPr>
                      <a:r>
                        <a:rPr lang="en-US" sz="2000">
                          <a:effectLst/>
                          <a:latin typeface="Times New Roman" panose="02020603050405020304" pitchFamily="18" charset="0"/>
                          <a:cs typeface="Times New Roman" panose="02020603050405020304" pitchFamily="18" charset="0"/>
                        </a:rPr>
                        <a:t>block.difficulty (uint)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Current block difficulty</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7763085"/>
                  </a:ext>
                </a:extLst>
              </a:tr>
              <a:tr h="448266">
                <a:tc>
                  <a:txBody>
                    <a:bodyPr/>
                    <a:lstStyle/>
                    <a:p>
                      <a:pPr algn="l">
                        <a:buNone/>
                      </a:pPr>
                      <a:r>
                        <a:rPr lang="en-US" sz="2000" dirty="0" err="1">
                          <a:effectLst/>
                          <a:latin typeface="Times New Roman" panose="02020603050405020304" pitchFamily="18" charset="0"/>
                          <a:cs typeface="Times New Roman" panose="02020603050405020304" pitchFamily="18" charset="0"/>
                        </a:rPr>
                        <a:t>block.gaslimit</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uint</a:t>
                      </a:r>
                      <a:r>
                        <a:rPr lang="en-US" sz="2000" dirty="0">
                          <a:effectLst/>
                          <a:latin typeface="Times New Roman" panose="02020603050405020304" pitchFamily="18" charset="0"/>
                          <a:cs typeface="Times New Roman" panose="02020603050405020304" pitchFamily="18" charset="0"/>
                        </a:rPr>
                        <a: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Current block </a:t>
                      </a:r>
                      <a:r>
                        <a:rPr lang="en-US" sz="2000" dirty="0" err="1">
                          <a:effectLst/>
                          <a:latin typeface="Times New Roman" panose="02020603050405020304" pitchFamily="18" charset="0"/>
                          <a:cs typeface="Times New Roman" panose="02020603050405020304" pitchFamily="18" charset="0"/>
                        </a:rPr>
                        <a:t>gaslimit</a:t>
                      </a:r>
                      <a:endParaRPr lang="en-US" sz="2000" dirty="0">
                        <a:effectLst/>
                        <a:latin typeface="Times New Roman" panose="02020603050405020304" pitchFamily="18" charset="0"/>
                        <a:cs typeface="Times New Roman" panose="02020603050405020304" pitchFamily="18" charset="0"/>
                      </a:endParaRP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0266681"/>
                  </a:ext>
                </a:extLst>
              </a:tr>
              <a:tr h="448266">
                <a:tc>
                  <a:txBody>
                    <a:bodyPr/>
                    <a:lstStyle/>
                    <a:p>
                      <a:pPr algn="l">
                        <a:buNone/>
                      </a:pPr>
                      <a:r>
                        <a:rPr lang="en-US" sz="2000">
                          <a:effectLst/>
                          <a:latin typeface="Times New Roman" panose="02020603050405020304" pitchFamily="18" charset="0"/>
                          <a:cs typeface="Times New Roman" panose="02020603050405020304" pitchFamily="18" charset="0"/>
                        </a:rPr>
                        <a:t>block.number (uint)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Current block number</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71927955"/>
                  </a:ext>
                </a:extLst>
              </a:tr>
              <a:tr h="457244">
                <a:tc>
                  <a:txBody>
                    <a:bodyPr/>
                    <a:lstStyle/>
                    <a:p>
                      <a:pPr algn="l">
                        <a:buNone/>
                      </a:pPr>
                      <a:r>
                        <a:rPr lang="en-US" sz="2000">
                          <a:effectLst/>
                          <a:latin typeface="Times New Roman" panose="02020603050405020304" pitchFamily="18" charset="0"/>
                          <a:cs typeface="Times New Roman" panose="02020603050405020304" pitchFamily="18" charset="0"/>
                        </a:rPr>
                        <a:t>block.timestamp (uint)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Current block timestamp as seconds since </a:t>
                      </a:r>
                      <a:r>
                        <a:rPr lang="en-US" sz="2000" dirty="0" err="1">
                          <a:effectLst/>
                          <a:latin typeface="Times New Roman" panose="02020603050405020304" pitchFamily="18" charset="0"/>
                          <a:cs typeface="Times New Roman" panose="02020603050405020304" pitchFamily="18" charset="0"/>
                        </a:rPr>
                        <a:t>unix</a:t>
                      </a:r>
                      <a:r>
                        <a:rPr lang="en-US" sz="2000" dirty="0">
                          <a:effectLst/>
                          <a:latin typeface="Times New Roman" panose="02020603050405020304" pitchFamily="18" charset="0"/>
                          <a:cs typeface="Times New Roman" panose="02020603050405020304" pitchFamily="18" charset="0"/>
                        </a:rPr>
                        <a:t> epoch</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0581051"/>
                  </a:ext>
                </a:extLst>
              </a:tr>
              <a:tr h="448266">
                <a:tc>
                  <a:txBody>
                    <a:bodyPr/>
                    <a:lstStyle/>
                    <a:p>
                      <a:pPr algn="l">
                        <a:buNone/>
                      </a:pPr>
                      <a:r>
                        <a:rPr lang="en-US" sz="2000" dirty="0" err="1">
                          <a:effectLst/>
                          <a:latin typeface="Times New Roman" panose="02020603050405020304" pitchFamily="18" charset="0"/>
                          <a:cs typeface="Times New Roman" panose="02020603050405020304" pitchFamily="18" charset="0"/>
                        </a:rPr>
                        <a:t>gasleft</a:t>
                      </a:r>
                      <a:r>
                        <a:rPr lang="en-US" sz="2000" dirty="0">
                          <a:effectLst/>
                          <a:latin typeface="Times New Roman" panose="02020603050405020304" pitchFamily="18" charset="0"/>
                          <a:cs typeface="Times New Roman" panose="02020603050405020304" pitchFamily="18" charset="0"/>
                        </a:rPr>
                        <a:t>() returns (uint256)</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en-US" sz="2000" dirty="0">
                          <a:effectLst/>
                          <a:latin typeface="Times New Roman" panose="02020603050405020304" pitchFamily="18" charset="0"/>
                          <a:cs typeface="Times New Roman" panose="02020603050405020304" pitchFamily="18" charset="0"/>
                        </a:rPr>
                        <a:t>Remaining gas</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02733132"/>
                  </a:ext>
                </a:extLst>
              </a:tr>
            </a:tbl>
          </a:graphicData>
        </a:graphic>
      </p:graphicFrame>
    </p:spTree>
    <p:extLst>
      <p:ext uri="{BB962C8B-B14F-4D97-AF65-F5344CB8AC3E}">
        <p14:creationId xmlns:p14="http://schemas.microsoft.com/office/powerpoint/2010/main" val="17981417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F933C-395D-0F63-CFF0-A38446E5EF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EAB91-B71C-DA49-789D-BF2AE8E5FDDD}"/>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3. Global Variable</a:t>
            </a:r>
            <a:endParaRPr lang="en-IN" dirty="0"/>
          </a:p>
        </p:txBody>
      </p:sp>
      <p:sp>
        <p:nvSpPr>
          <p:cNvPr id="3" name="Subtitle 2">
            <a:extLst>
              <a:ext uri="{FF2B5EF4-FFF2-40B4-BE49-F238E27FC236}">
                <a16:creationId xmlns:a16="http://schemas.microsoft.com/office/drawing/2014/main" id="{EF381E31-5372-B2EA-C476-6E4DDFBBF098}"/>
              </a:ext>
            </a:extLst>
          </p:cNvPr>
          <p:cNvSpPr>
            <a:spLocks noGrp="1"/>
          </p:cNvSpPr>
          <p:nvPr>
            <p:ph type="subTitle" idx="1"/>
          </p:nvPr>
        </p:nvSpPr>
        <p:spPr>
          <a:xfrm>
            <a:off x="0" y="1392072"/>
            <a:ext cx="12191999" cy="5465928"/>
          </a:xfrm>
        </p:spPr>
        <p:txBody>
          <a:bodyPr>
            <a:normAutofit/>
          </a:bodyPr>
          <a:lstStyle/>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are special variables which exist in global workspace.</a:t>
            </a:r>
          </a:p>
          <a:p>
            <a:pPr marL="342900" indent="-342900" algn="l">
              <a:lnSpc>
                <a:spcPct val="150000"/>
              </a:lnSpc>
              <a:spcBef>
                <a:spcPts val="0"/>
              </a:spcBef>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information about the blockchain and transaction properties.</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C5B68FD-7E6B-BDCB-33F1-728CA48C634A}"/>
              </a:ext>
            </a:extLst>
          </p:cNvPr>
          <p:cNvSpPr>
            <a:spLocks noGrp="1"/>
          </p:cNvSpPr>
          <p:nvPr>
            <p:ph type="sldNum" sz="quarter" idx="12"/>
          </p:nvPr>
        </p:nvSpPr>
        <p:spPr/>
        <p:txBody>
          <a:bodyPr/>
          <a:lstStyle/>
          <a:p>
            <a:fld id="{C905212E-7E47-46B0-BE65-5B75620CD287}" type="slidenum">
              <a:rPr lang="en-IN" smtClean="0"/>
              <a:t>32</a:t>
            </a:fld>
            <a:endParaRPr lang="en-IN"/>
          </a:p>
        </p:txBody>
      </p:sp>
      <p:graphicFrame>
        <p:nvGraphicFramePr>
          <p:cNvPr id="4" name="Table 3">
            <a:extLst>
              <a:ext uri="{FF2B5EF4-FFF2-40B4-BE49-F238E27FC236}">
                <a16:creationId xmlns:a16="http://schemas.microsoft.com/office/drawing/2014/main" id="{1BDB2D74-7CF8-A3A0-04B3-DD8EFC5E1360}"/>
              </a:ext>
            </a:extLst>
          </p:cNvPr>
          <p:cNvGraphicFramePr>
            <a:graphicFrameLocks noGrp="1"/>
          </p:cNvGraphicFramePr>
          <p:nvPr>
            <p:extLst>
              <p:ext uri="{D42A27DB-BD31-4B8C-83A1-F6EECF244321}">
                <p14:modId xmlns:p14="http://schemas.microsoft.com/office/powerpoint/2010/main" val="3068717130"/>
              </p:ext>
            </p:extLst>
          </p:nvPr>
        </p:nvGraphicFramePr>
        <p:xfrm>
          <a:off x="1413642" y="2550893"/>
          <a:ext cx="10304078" cy="3684412"/>
        </p:xfrm>
        <a:graphic>
          <a:graphicData uri="http://schemas.openxmlformats.org/drawingml/2006/table">
            <a:tbl>
              <a:tblPr/>
              <a:tblGrid>
                <a:gridCol w="4870260">
                  <a:extLst>
                    <a:ext uri="{9D8B030D-6E8A-4147-A177-3AD203B41FA5}">
                      <a16:colId xmlns:a16="http://schemas.microsoft.com/office/drawing/2014/main" val="1197364485"/>
                    </a:ext>
                  </a:extLst>
                </a:gridCol>
                <a:gridCol w="5433818">
                  <a:extLst>
                    <a:ext uri="{9D8B030D-6E8A-4147-A177-3AD203B41FA5}">
                      <a16:colId xmlns:a16="http://schemas.microsoft.com/office/drawing/2014/main" val="2204323666"/>
                    </a:ext>
                  </a:extLst>
                </a:gridCol>
              </a:tblGrid>
              <a:tr h="448266">
                <a:tc>
                  <a:txBody>
                    <a:bodyPr/>
                    <a:lstStyle/>
                    <a:p>
                      <a:pPr algn="ctr">
                        <a:buNone/>
                      </a:pPr>
                      <a:r>
                        <a:rPr lang="en-US" sz="2000" b="1" dirty="0">
                          <a:solidFill>
                            <a:srgbClr val="000000"/>
                          </a:solidFill>
                          <a:effectLst/>
                          <a:latin typeface="Times New Roman" panose="02020603050405020304" pitchFamily="18" charset="0"/>
                          <a:cs typeface="Times New Roman" panose="02020603050405020304" pitchFamily="18" charset="0"/>
                        </a:rPr>
                        <a:t>Name</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buNone/>
                      </a:pPr>
                      <a:r>
                        <a:rPr lang="en-US" sz="2000" b="1" dirty="0">
                          <a:solidFill>
                            <a:srgbClr val="000000"/>
                          </a:solidFill>
                          <a:effectLst/>
                          <a:latin typeface="Times New Roman" panose="02020603050405020304" pitchFamily="18" charset="0"/>
                          <a:cs typeface="Times New Roman" panose="02020603050405020304" pitchFamily="18" charset="0"/>
                        </a:rPr>
                        <a:t>Returns</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4203442209"/>
                  </a:ext>
                </a:extLst>
              </a:tr>
              <a:tr h="537572">
                <a:tc>
                  <a:txBody>
                    <a:bodyPr/>
                    <a:lstStyle/>
                    <a:p>
                      <a:pPr algn="l">
                        <a:lnSpc>
                          <a:spcPct val="150000"/>
                        </a:lnSpc>
                        <a:buNone/>
                      </a:pPr>
                      <a:r>
                        <a:rPr lang="en-US" sz="2000" dirty="0" err="1">
                          <a:effectLst/>
                          <a:latin typeface="Times New Roman" panose="02020603050405020304" pitchFamily="18" charset="0"/>
                          <a:cs typeface="Times New Roman" panose="02020603050405020304" pitchFamily="18" charset="0"/>
                        </a:rPr>
                        <a:t>msg.data</a:t>
                      </a:r>
                      <a:r>
                        <a:rPr lang="en-US" sz="2000" dirty="0">
                          <a:effectLst/>
                          <a:latin typeface="Times New Roman" panose="02020603050405020304" pitchFamily="18" charset="0"/>
                          <a:cs typeface="Times New Roman" panose="02020603050405020304" pitchFamily="18" charset="0"/>
                        </a:rPr>
                        <a:t> (bytes </a:t>
                      </a:r>
                      <a:r>
                        <a:rPr lang="en-US" sz="2000" dirty="0" err="1">
                          <a:effectLst/>
                          <a:latin typeface="Times New Roman" panose="02020603050405020304" pitchFamily="18" charset="0"/>
                          <a:cs typeface="Times New Roman" panose="02020603050405020304" pitchFamily="18" charset="0"/>
                        </a:rPr>
                        <a:t>calldata</a:t>
                      </a:r>
                      <a:r>
                        <a:rPr lang="en-US" sz="2000" dirty="0">
                          <a:effectLst/>
                          <a:latin typeface="Times New Roman" panose="02020603050405020304" pitchFamily="18" charset="0"/>
                          <a:cs typeface="Times New Roman" panose="02020603050405020304" pitchFamily="18" charset="0"/>
                        </a:rPr>
                        <a: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Complete </a:t>
                      </a:r>
                      <a:r>
                        <a:rPr lang="en-US" sz="2000" dirty="0" err="1">
                          <a:effectLst/>
                          <a:latin typeface="Times New Roman" panose="02020603050405020304" pitchFamily="18" charset="0"/>
                          <a:cs typeface="Times New Roman" panose="02020603050405020304" pitchFamily="18" charset="0"/>
                        </a:rPr>
                        <a:t>calldata</a:t>
                      </a:r>
                      <a:endParaRPr lang="en-US" sz="2000" dirty="0">
                        <a:effectLst/>
                        <a:latin typeface="Times New Roman" panose="02020603050405020304" pitchFamily="18" charset="0"/>
                        <a:cs typeface="Times New Roman" panose="02020603050405020304" pitchFamily="18" charset="0"/>
                      </a:endParaRP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30713819"/>
                  </a:ext>
                </a:extLst>
              </a:tr>
              <a:tr h="448266">
                <a:tc>
                  <a:txBody>
                    <a:bodyPr/>
                    <a:lstStyle/>
                    <a:p>
                      <a:pPr algn="l">
                        <a:lnSpc>
                          <a:spcPct val="150000"/>
                        </a:lnSpc>
                        <a:buNone/>
                      </a:pPr>
                      <a:r>
                        <a:rPr lang="en-US" sz="2000" dirty="0" err="1">
                          <a:effectLst/>
                          <a:latin typeface="Times New Roman" panose="02020603050405020304" pitchFamily="18" charset="0"/>
                          <a:cs typeface="Times New Roman" panose="02020603050405020304" pitchFamily="18" charset="0"/>
                        </a:rPr>
                        <a:t>msg.sender</a:t>
                      </a:r>
                      <a:r>
                        <a:rPr lang="en-US" sz="2000" dirty="0">
                          <a:effectLst/>
                          <a:latin typeface="Times New Roman" panose="02020603050405020304" pitchFamily="18" charset="0"/>
                          <a:cs typeface="Times New Roman" panose="02020603050405020304" pitchFamily="18" charset="0"/>
                        </a:rPr>
                        <a:t> (address payable)</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Sender of the message (current caller)</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93543907"/>
                  </a:ext>
                </a:extLst>
              </a:tr>
              <a:tr h="448266">
                <a:tc>
                  <a:txBody>
                    <a:bodyPr/>
                    <a:lstStyle/>
                    <a:p>
                      <a:pPr algn="l">
                        <a:lnSpc>
                          <a:spcPct val="150000"/>
                        </a:lnSpc>
                        <a:buNone/>
                      </a:pPr>
                      <a:r>
                        <a:rPr lang="en-US" sz="2000" dirty="0" err="1">
                          <a:effectLst/>
                          <a:latin typeface="Times New Roman" panose="02020603050405020304" pitchFamily="18" charset="0"/>
                          <a:cs typeface="Times New Roman" panose="02020603050405020304" pitchFamily="18" charset="0"/>
                        </a:rPr>
                        <a:t>msg.sig</a:t>
                      </a:r>
                      <a:r>
                        <a:rPr lang="en-US" sz="2000" dirty="0">
                          <a:effectLst/>
                          <a:latin typeface="Times New Roman" panose="02020603050405020304" pitchFamily="18" charset="0"/>
                          <a:cs typeface="Times New Roman" panose="02020603050405020304" pitchFamily="18" charset="0"/>
                        </a:rPr>
                        <a:t> (bytes4)</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First four bytes of the </a:t>
                      </a:r>
                      <a:r>
                        <a:rPr lang="en-US" sz="2000" dirty="0" err="1">
                          <a:effectLst/>
                          <a:latin typeface="Times New Roman" panose="02020603050405020304" pitchFamily="18" charset="0"/>
                          <a:cs typeface="Times New Roman" panose="02020603050405020304" pitchFamily="18" charset="0"/>
                        </a:rPr>
                        <a:t>calldata</a:t>
                      </a:r>
                      <a:r>
                        <a:rPr lang="en-US" sz="2000" dirty="0">
                          <a:effectLst/>
                          <a:latin typeface="Times New Roman" panose="02020603050405020304" pitchFamily="18" charset="0"/>
                          <a:cs typeface="Times New Roman" panose="02020603050405020304" pitchFamily="18" charset="0"/>
                        </a:rPr>
                        <a:t> (function identifier)</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7763085"/>
                  </a:ext>
                </a:extLst>
              </a:tr>
              <a:tr h="448266">
                <a:tc>
                  <a:txBody>
                    <a:bodyPr/>
                    <a:lstStyle/>
                    <a:p>
                      <a:pPr algn="l">
                        <a:lnSpc>
                          <a:spcPct val="150000"/>
                        </a:lnSpc>
                        <a:buNone/>
                      </a:pPr>
                      <a:r>
                        <a:rPr lang="en-US" sz="2000">
                          <a:effectLst/>
                          <a:latin typeface="Times New Roman" panose="02020603050405020304" pitchFamily="18" charset="0"/>
                          <a:cs typeface="Times New Roman" panose="02020603050405020304" pitchFamily="18" charset="0"/>
                        </a:rPr>
                        <a:t>msg.value (uint)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Number of </a:t>
                      </a:r>
                      <a:r>
                        <a:rPr lang="en-US" sz="2000" dirty="0" err="1">
                          <a:effectLst/>
                          <a:latin typeface="Times New Roman" panose="02020603050405020304" pitchFamily="18" charset="0"/>
                          <a:cs typeface="Times New Roman" panose="02020603050405020304" pitchFamily="18" charset="0"/>
                        </a:rPr>
                        <a:t>wei</a:t>
                      </a:r>
                      <a:r>
                        <a:rPr lang="en-US" sz="2000" dirty="0">
                          <a:effectLst/>
                          <a:latin typeface="Times New Roman" panose="02020603050405020304" pitchFamily="18" charset="0"/>
                          <a:cs typeface="Times New Roman" panose="02020603050405020304" pitchFamily="18" charset="0"/>
                        </a:rPr>
                        <a:t> sent with the message</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0266681"/>
                  </a:ext>
                </a:extLst>
              </a:tr>
              <a:tr h="448266">
                <a:tc>
                  <a:txBody>
                    <a:bodyPr/>
                    <a:lstStyle/>
                    <a:p>
                      <a:pPr algn="l">
                        <a:lnSpc>
                          <a:spcPct val="150000"/>
                        </a:lnSpc>
                        <a:buNone/>
                      </a:pPr>
                      <a:r>
                        <a:rPr lang="en-US" sz="2000">
                          <a:effectLst/>
                          <a:latin typeface="Times New Roman" panose="02020603050405020304" pitchFamily="18" charset="0"/>
                          <a:cs typeface="Times New Roman" panose="02020603050405020304" pitchFamily="18" charset="0"/>
                        </a:rPr>
                        <a:t>now (uint)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Current block timestamp</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71927955"/>
                  </a:ext>
                </a:extLst>
              </a:tr>
              <a:tr h="457244">
                <a:tc>
                  <a:txBody>
                    <a:bodyPr/>
                    <a:lstStyle/>
                    <a:p>
                      <a:pPr algn="l">
                        <a:lnSpc>
                          <a:spcPct val="150000"/>
                        </a:lnSpc>
                        <a:buNone/>
                      </a:pPr>
                      <a:r>
                        <a:rPr lang="en-US" sz="2000">
                          <a:effectLst/>
                          <a:latin typeface="Times New Roman" panose="02020603050405020304" pitchFamily="18" charset="0"/>
                          <a:cs typeface="Times New Roman" panose="02020603050405020304" pitchFamily="18" charset="0"/>
                        </a:rPr>
                        <a:t>tx.gasprice (uint)</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Gas price of the transaction</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00581051"/>
                  </a:ext>
                </a:extLst>
              </a:tr>
              <a:tr h="448266">
                <a:tc>
                  <a:txBody>
                    <a:bodyPr/>
                    <a:lstStyle/>
                    <a:p>
                      <a:pPr algn="l">
                        <a:lnSpc>
                          <a:spcPct val="150000"/>
                        </a:lnSpc>
                        <a:buNone/>
                      </a:pPr>
                      <a:r>
                        <a:rPr lang="en-US" sz="2000">
                          <a:effectLst/>
                          <a:latin typeface="Times New Roman" panose="02020603050405020304" pitchFamily="18" charset="0"/>
                          <a:cs typeface="Times New Roman" panose="02020603050405020304" pitchFamily="18" charset="0"/>
                        </a:rPr>
                        <a:t>tx.origin (address payable)</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lnSpc>
                          <a:spcPct val="150000"/>
                        </a:lnSpc>
                        <a:buNone/>
                      </a:pPr>
                      <a:r>
                        <a:rPr lang="en-US" sz="2000" dirty="0">
                          <a:effectLst/>
                          <a:latin typeface="Times New Roman" panose="02020603050405020304" pitchFamily="18" charset="0"/>
                          <a:cs typeface="Times New Roman" panose="02020603050405020304" pitchFamily="18" charset="0"/>
                        </a:rPr>
                        <a:t>Sender of the transaction</a:t>
                      </a:r>
                    </a:p>
                  </a:txBody>
                  <a:tcPr marL="14968" marR="14968" marT="14968" marB="149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02733132"/>
                  </a:ext>
                </a:extLst>
              </a:tr>
            </a:tbl>
          </a:graphicData>
        </a:graphic>
      </p:graphicFrame>
    </p:spTree>
    <p:extLst>
      <p:ext uri="{BB962C8B-B14F-4D97-AF65-F5344CB8AC3E}">
        <p14:creationId xmlns:p14="http://schemas.microsoft.com/office/powerpoint/2010/main" val="1874405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BB995-36B8-BCD3-9B7E-1912652FB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DB3E6-4F9F-6D53-19E5-2C0CF563B41E}"/>
              </a:ext>
            </a:extLst>
          </p:cNvPr>
          <p:cNvSpPr>
            <a:spLocks noGrp="1"/>
          </p:cNvSpPr>
          <p:nvPr>
            <p:ph type="ctrTitle"/>
          </p:nvPr>
        </p:nvSpPr>
        <p:spPr>
          <a:xfrm>
            <a:off x="0" y="10367"/>
            <a:ext cx="12192000" cy="1350702"/>
          </a:xfrm>
        </p:spPr>
        <p:txBody>
          <a:bodyPr/>
          <a:lstStyle/>
          <a:p>
            <a:r>
              <a:rPr lang="en-US" dirty="0">
                <a:latin typeface="Times New Roman" panose="02020603050405020304" pitchFamily="18" charset="0"/>
                <a:cs typeface="Times New Roman" panose="02020603050405020304" pitchFamily="18" charset="0"/>
              </a:rPr>
              <a:t>Visibility Specifiers or Variable Scopes</a:t>
            </a:r>
            <a:endParaRPr lang="en-IN" dirty="0"/>
          </a:p>
        </p:txBody>
      </p:sp>
      <p:sp>
        <p:nvSpPr>
          <p:cNvPr id="3" name="Subtitle 2">
            <a:extLst>
              <a:ext uri="{FF2B5EF4-FFF2-40B4-BE49-F238E27FC236}">
                <a16:creationId xmlns:a16="http://schemas.microsoft.com/office/drawing/2014/main" id="{ACB1C2D7-E7C1-A06E-47EB-0115DAA26ECA}"/>
              </a:ext>
            </a:extLst>
          </p:cNvPr>
          <p:cNvSpPr>
            <a:spLocks noGrp="1"/>
          </p:cNvSpPr>
          <p:nvPr>
            <p:ph type="subTitle" idx="1"/>
          </p:nvPr>
        </p:nvSpPr>
        <p:spPr>
          <a:xfrm>
            <a:off x="0" y="1392072"/>
            <a:ext cx="12191999" cy="5465928"/>
          </a:xfrm>
        </p:spPr>
        <p:txBody>
          <a:bodyPr>
            <a:normAutofit fontScale="92500"/>
          </a:bodyPr>
          <a:lstStyle/>
          <a:p>
            <a:pPr algn="l">
              <a:lnSpc>
                <a:spcPct val="150000"/>
              </a:lnSpc>
              <a:spcBef>
                <a:spcPts val="0"/>
              </a:spcBef>
            </a:pPr>
            <a:r>
              <a:rPr lang="en-US" b="1" dirty="0">
                <a:latin typeface="Times New Roman" panose="02020603050405020304" pitchFamily="18" charset="0"/>
                <a:cs typeface="Times New Roman" panose="02020603050405020304" pitchFamily="18" charset="0"/>
              </a:rPr>
              <a:t>Solidity function visibility specifiers:</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public</a:t>
            </a:r>
            <a:r>
              <a:rPr lang="en-US" dirty="0">
                <a:latin typeface="Times New Roman" panose="02020603050405020304" pitchFamily="18" charset="0"/>
                <a:cs typeface="Times New Roman" panose="02020603050405020304" pitchFamily="18" charset="0"/>
              </a:rPr>
              <a:t> (default for functions) </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public state variables can be accessed internally as well as via message. For a public state variable, an automatic getter function is generated.</a:t>
            </a:r>
          </a:p>
          <a:p>
            <a:pPr algn="l">
              <a:lnSpc>
                <a:spcPct val="150000"/>
              </a:lnSpc>
              <a:spcBef>
                <a:spcPts val="0"/>
              </a:spcBef>
            </a:pPr>
            <a:r>
              <a:rPr lang="en-US" dirty="0">
                <a:latin typeface="Times New Roman" panose="02020603050405020304" pitchFamily="18" charset="0"/>
                <a:cs typeface="Times New Roman" panose="02020603050405020304" pitchFamily="18" charset="0"/>
              </a:rPr>
              <a:t>visible externally and internally (including getter functions for storage/state variables)</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private:</a:t>
            </a:r>
            <a:r>
              <a:rPr lang="en-US" dirty="0">
                <a:latin typeface="Times New Roman" panose="02020603050405020304" pitchFamily="18" charset="0"/>
                <a:cs typeface="Times New Roman" panose="02020603050405020304" pitchFamily="18" charset="0"/>
              </a:rPr>
              <a:t> Private state variables can be accessed only internally from the current contract they are defined not in the derived contract from it. only visible in the current contract.</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internal:</a:t>
            </a:r>
            <a:r>
              <a:rPr lang="en-US" dirty="0">
                <a:latin typeface="Times New Roman" panose="02020603050405020304" pitchFamily="18" charset="0"/>
                <a:cs typeface="Times New Roman" panose="02020603050405020304" pitchFamily="18" charset="0"/>
              </a:rPr>
              <a:t> Internal state variables can be accessed only internally from the current contract or contract deriving from it without using this. Can be called by the current contract or any derived contracts.</a:t>
            </a:r>
          </a:p>
          <a:p>
            <a:pPr algn="l">
              <a:lnSpc>
                <a:spcPct val="150000"/>
              </a:lnSpc>
              <a:spcBef>
                <a:spcPts val="0"/>
              </a:spcBef>
            </a:pPr>
            <a:r>
              <a:rPr lang="en-US" b="1" dirty="0">
                <a:latin typeface="Times New Roman" panose="02020603050405020304" pitchFamily="18" charset="0"/>
                <a:cs typeface="Times New Roman" panose="02020603050405020304" pitchFamily="18" charset="0"/>
              </a:rPr>
              <a:t>external: </a:t>
            </a:r>
            <a:r>
              <a:rPr lang="en-US" dirty="0">
                <a:latin typeface="Times New Roman" panose="02020603050405020304" pitchFamily="18" charset="0"/>
                <a:cs typeface="Times New Roman" panose="02020603050405020304" pitchFamily="18" charset="0"/>
              </a:rPr>
              <a:t>only visible externally, however can be accessed within the current contract via '</a:t>
            </a:r>
            <a:r>
              <a:rPr lang="en-US" dirty="0" err="1">
                <a:latin typeface="Times New Roman" panose="02020603050405020304" pitchFamily="18" charset="0"/>
                <a:cs typeface="Times New Roman" panose="02020603050405020304" pitchFamily="18" charset="0"/>
              </a:rPr>
              <a:t>this.func</a:t>
            </a:r>
            <a:r>
              <a:rPr lang="en-US" dirty="0">
                <a:latin typeface="Times New Roman" panose="02020603050405020304" pitchFamily="18" charset="0"/>
                <a:cs typeface="Times New Roman" panose="02020603050405020304" pitchFamily="18" charset="0"/>
              </a:rPr>
              <a:t>'</a:t>
            </a:r>
          </a:p>
          <a:p>
            <a:pPr algn="l">
              <a:lnSpc>
                <a:spcPct val="150000"/>
              </a:lnSpc>
              <a:spcBef>
                <a:spcPts val="0"/>
              </a:spcBef>
            </a:pPr>
            <a:endParaRPr lang="en-US" b="1" dirty="0">
              <a:latin typeface="Times New Roman" panose="02020603050405020304" pitchFamily="18" charset="0"/>
              <a:cs typeface="Times New Roman" panose="02020603050405020304" pitchFamily="18" charset="0"/>
            </a:endParaRPr>
          </a:p>
          <a:p>
            <a:pPr algn="l">
              <a:lnSpc>
                <a:spcPct val="150000"/>
              </a:lnSpc>
              <a:spcBef>
                <a:spcPts val="0"/>
              </a:spcBef>
            </a:pPr>
            <a:endParaRPr lang="en-US"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A2B2ED8-C113-313D-6F49-BB1063EC457E}"/>
              </a:ext>
            </a:extLst>
          </p:cNvPr>
          <p:cNvSpPr>
            <a:spLocks noGrp="1"/>
          </p:cNvSpPr>
          <p:nvPr>
            <p:ph type="sldNum" sz="quarter" idx="12"/>
          </p:nvPr>
        </p:nvSpPr>
        <p:spPr/>
        <p:txBody>
          <a:bodyPr/>
          <a:lstStyle/>
          <a:p>
            <a:fld id="{C905212E-7E47-46B0-BE65-5B75620CD287}" type="slidenum">
              <a:rPr lang="en-IN" smtClean="0"/>
              <a:t>33</a:t>
            </a:fld>
            <a:endParaRPr lang="en-IN"/>
          </a:p>
        </p:txBody>
      </p:sp>
    </p:spTree>
    <p:extLst>
      <p:ext uri="{BB962C8B-B14F-4D97-AF65-F5344CB8AC3E}">
        <p14:creationId xmlns:p14="http://schemas.microsoft.com/office/powerpoint/2010/main" val="1085941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89794"/>
            <a:ext cx="12192000" cy="931330"/>
          </a:xfrm>
        </p:spPr>
        <p:txBody>
          <a:bodyPr/>
          <a:lstStyle/>
          <a:p>
            <a:r>
              <a:rPr lang="en-US" dirty="0">
                <a:latin typeface="Times New Roman" panose="02020603050405020304" pitchFamily="18" charset="0"/>
                <a:cs typeface="Times New Roman" panose="02020603050405020304" pitchFamily="18" charset="0"/>
              </a:rPr>
              <a:t>Thankyou </a:t>
            </a:r>
            <a:endParaRPr lang="en-IN" dirty="0"/>
          </a:p>
        </p:txBody>
      </p:sp>
      <p:sp>
        <p:nvSpPr>
          <p:cNvPr id="5" name="Slide Number Placeholder 4"/>
          <p:cNvSpPr>
            <a:spLocks noGrp="1"/>
          </p:cNvSpPr>
          <p:nvPr>
            <p:ph type="sldNum" sz="quarter" idx="12"/>
          </p:nvPr>
        </p:nvSpPr>
        <p:spPr/>
        <p:txBody>
          <a:bodyPr/>
          <a:lstStyle/>
          <a:p>
            <a:fld id="{C905212E-7E47-46B0-BE65-5B75620CD287}" type="slidenum">
              <a:rPr lang="en-IN" smtClean="0"/>
              <a:t>34</a:t>
            </a:fld>
            <a:endParaRPr lang="en-IN"/>
          </a:p>
        </p:txBody>
      </p:sp>
    </p:spTree>
    <p:extLst>
      <p:ext uri="{BB962C8B-B14F-4D97-AF65-F5344CB8AC3E}">
        <p14:creationId xmlns:p14="http://schemas.microsoft.com/office/powerpoint/2010/main" val="2025060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2933</TotalTime>
  <Words>2617</Words>
  <Application>Microsoft Office PowerPoint</Application>
  <PresentationFormat>Widescreen</PresentationFormat>
  <Paragraphs>371</Paragraphs>
  <Slides>34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Times New Roman</vt:lpstr>
      <vt:lpstr>Office Theme</vt:lpstr>
      <vt:lpstr>PowerPoint Presentation</vt:lpstr>
      <vt:lpstr>Types of Blockchain Development</vt:lpstr>
      <vt:lpstr>Ethereum Blockchain</vt:lpstr>
      <vt:lpstr>Ethereum Virtual Machine</vt:lpstr>
      <vt:lpstr>Smart Contracts</vt:lpstr>
      <vt:lpstr>Ethereum Networks</vt:lpstr>
      <vt:lpstr>Ethereum Networks</vt:lpstr>
      <vt:lpstr>Solidity Overview</vt:lpstr>
      <vt:lpstr>Solidity Overview</vt:lpstr>
      <vt:lpstr>Code Structure</vt:lpstr>
      <vt:lpstr>Code Structure</vt:lpstr>
      <vt:lpstr>Version Discussion</vt:lpstr>
      <vt:lpstr>Example of Smart Contract</vt:lpstr>
      <vt:lpstr>Compilation Process</vt:lpstr>
      <vt:lpstr>Compilation Process</vt:lpstr>
      <vt:lpstr>Comments</vt:lpstr>
      <vt:lpstr>Keywords</vt:lpstr>
      <vt:lpstr>Solidity Types</vt:lpstr>
      <vt:lpstr>Solidity Types</vt:lpstr>
      <vt:lpstr>Solidity Types</vt:lpstr>
      <vt:lpstr>Solidity Types</vt:lpstr>
      <vt:lpstr>Solidity Types</vt:lpstr>
      <vt:lpstr>Solidity Types</vt:lpstr>
      <vt:lpstr>Solidity Types</vt:lpstr>
      <vt:lpstr>Solidity Types</vt:lpstr>
      <vt:lpstr>Solidity Types</vt:lpstr>
      <vt:lpstr>Naming Convention of Variable</vt:lpstr>
      <vt:lpstr>Types of Variable</vt:lpstr>
      <vt:lpstr>1. State Variable</vt:lpstr>
      <vt:lpstr>2. Local Variable</vt:lpstr>
      <vt:lpstr>3. Global Variable</vt:lpstr>
      <vt:lpstr>3. Global Variable</vt:lpstr>
      <vt:lpstr>Visibility Specifiers or Variable Scopes</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PSD Training</dc:title>
  <dc:creator>Administrator</dc:creator>
  <cp:lastModifiedBy>Dilip kumar</cp:lastModifiedBy>
  <cp:revision>874</cp:revision>
  <dcterms:created xsi:type="dcterms:W3CDTF">2021-04-06T03:53:21Z</dcterms:created>
  <dcterms:modified xsi:type="dcterms:W3CDTF">2025-11-17T17:48:35Z</dcterms:modified>
</cp:coreProperties>
</file>