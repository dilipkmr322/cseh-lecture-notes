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379" r:id="rId3"/>
    <p:sldId id="403" r:id="rId4"/>
    <p:sldId id="418" r:id="rId5"/>
    <p:sldId id="419" r:id="rId6"/>
    <p:sldId id="406" r:id="rId7"/>
    <p:sldId id="407" r:id="rId8"/>
    <p:sldId id="408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8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1196F-6D46-4ACA-AFF0-8FCC7F2180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74F5C-80A1-4511-AB2D-512D6A7E7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4347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C98C9-3C5D-4C1F-8F5F-FF93A2736DCF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F744A-23B8-4522-874D-1DBAE77D9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499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96535" y="6461872"/>
            <a:ext cx="398930" cy="365125"/>
          </a:xfrm>
        </p:spPr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0" y="6242724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66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>
          <a:xfrm>
            <a:off x="0" y="6256581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83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46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49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1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94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65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44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72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02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>
          <a:xfrm>
            <a:off x="1285315" y="6237027"/>
            <a:ext cx="1703294" cy="58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  Dilip Kumar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08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2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358153"/>
            <a:ext cx="12192000" cy="49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887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5212E-7E47-46B0-BE65-5B75620CD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00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369257" y="6467475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B5ADE5AC-5713-4BA9-B4C4-0A1BA6781C15}" type="slidenum">
              <a:rPr lang="en-US" smtClean="0"/>
              <a:pPr algn="ctr" eaLnBrk="1" hangingPunct="1"/>
              <a:t>1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A72D6A-0E84-16BD-02B5-DB5A2E068FB1}"/>
              </a:ext>
            </a:extLst>
          </p:cNvPr>
          <p:cNvSpPr/>
          <p:nvPr/>
        </p:nvSpPr>
        <p:spPr>
          <a:xfrm>
            <a:off x="1439917" y="1965434"/>
            <a:ext cx="8734097" cy="252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Cyber Security and Ethical Hacking</a:t>
            </a:r>
          </a:p>
        </p:txBody>
      </p:sp>
    </p:spTree>
    <p:extLst>
      <p:ext uri="{BB962C8B-B14F-4D97-AF65-F5344CB8AC3E}">
        <p14:creationId xmlns:p14="http://schemas.microsoft.com/office/powerpoint/2010/main" val="171826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CC04-E961-C271-B957-9FDBDEA4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9DA3F-5330-ABBF-B938-93A4BB502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Solidity Operators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415C2-1265-9A99-F1BA-539E1E080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are symbols, which operates on operand.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operator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72708-C90F-21CF-5DBD-0B161FCB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2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9F80C-7063-E461-81B5-F236E2DF9E3E}"/>
              </a:ext>
            </a:extLst>
          </p:cNvPr>
          <p:cNvSpPr/>
          <p:nvPr/>
        </p:nvSpPr>
        <p:spPr>
          <a:xfrm>
            <a:off x="1397877" y="2188668"/>
            <a:ext cx="6337738" cy="449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&amp; b are operands, + is the symbol.</a:t>
            </a:r>
          </a:p>
        </p:txBody>
      </p:sp>
    </p:spTree>
    <p:extLst>
      <p:ext uri="{BB962C8B-B14F-4D97-AF65-F5344CB8AC3E}">
        <p14:creationId xmlns:p14="http://schemas.microsoft.com/office/powerpoint/2010/main" val="242168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31EB-019C-BA4E-553C-0C25EDE1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57FA-04FE-D9FA-D48F-65E3A0DF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47D18-F353-A363-CC0E-0C40B34EF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4C9B7-1840-98A9-FD8E-2FD090D3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D1AE23-025C-7F4F-DA21-6B8E5E2E2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07578"/>
              </p:ext>
            </p:extLst>
          </p:nvPr>
        </p:nvGraphicFramePr>
        <p:xfrm>
          <a:off x="804040" y="1361069"/>
          <a:ext cx="10314790" cy="4615956"/>
        </p:xfrm>
        <a:graphic>
          <a:graphicData uri="http://schemas.openxmlformats.org/drawingml/2006/table">
            <a:tbl>
              <a:tblPr/>
              <a:tblGrid>
                <a:gridCol w="792150">
                  <a:extLst>
                    <a:ext uri="{9D8B030D-6E8A-4147-A177-3AD203B41FA5}">
                      <a16:colId xmlns:a16="http://schemas.microsoft.com/office/drawing/2014/main" val="911862761"/>
                    </a:ext>
                  </a:extLst>
                </a:gridCol>
                <a:gridCol w="9522640">
                  <a:extLst>
                    <a:ext uri="{9D8B030D-6E8A-4147-A177-3AD203B41FA5}">
                      <a16:colId xmlns:a16="http://schemas.microsoft.com/office/drawing/2014/main" val="2813664841"/>
                    </a:ext>
                  </a:extLst>
                </a:gridCol>
              </a:tblGrid>
              <a:tr h="3798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&amp; Description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74947"/>
                  </a:ext>
                </a:extLst>
              </a:tr>
              <a:tr h="608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(Addition):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two operands.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 + B will give 30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09085"/>
                  </a:ext>
                </a:extLst>
              </a:tr>
              <a:tr h="5623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(Subtraction):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Subtracts the second operand from the first.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 - B will give -10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675888"/>
                  </a:ext>
                </a:extLst>
              </a:tr>
              <a:tr h="5780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(Multiplication):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Multiply both operands.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 * B will give 200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025502"/>
                  </a:ext>
                </a:extLst>
              </a:tr>
              <a:tr h="614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(Division):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the numerator by the denominator.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B / A will give 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387982"/>
                  </a:ext>
                </a:extLst>
              </a:tr>
              <a:tr h="567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(Modulus):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Outputs the remainder of an integer division.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B % A will give 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043996"/>
                  </a:ext>
                </a:extLst>
              </a:tr>
              <a:tr h="5780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 (Increment):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an integer value by one.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A++ will give 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204153"/>
                  </a:ext>
                </a:extLst>
              </a:tr>
              <a:tr h="72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 (Decrement):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Decreases an integer value by one.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A-- will give 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202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70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814B-D10D-157B-7A0C-F8624C3B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775D-7254-CC7A-A23A-96FF77821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7788-E878-C5D3-DC6C-21A30C1DC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32D02-10EF-A4BE-F55D-2FEDF591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854CC0-C3EE-5780-9937-F580DD16A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663297"/>
              </p:ext>
            </p:extLst>
          </p:nvPr>
        </p:nvGraphicFramePr>
        <p:xfrm>
          <a:off x="-1" y="1361069"/>
          <a:ext cx="12191999" cy="5069800"/>
        </p:xfrm>
        <a:graphic>
          <a:graphicData uri="http://schemas.openxmlformats.org/drawingml/2006/table">
            <a:tbl>
              <a:tblPr/>
              <a:tblGrid>
                <a:gridCol w="840829">
                  <a:extLst>
                    <a:ext uri="{9D8B030D-6E8A-4147-A177-3AD203B41FA5}">
                      <a16:colId xmlns:a16="http://schemas.microsoft.com/office/drawing/2014/main" val="911862761"/>
                    </a:ext>
                  </a:extLst>
                </a:gridCol>
                <a:gridCol w="11351170">
                  <a:extLst>
                    <a:ext uri="{9D8B030D-6E8A-4147-A177-3AD203B41FA5}">
                      <a16:colId xmlns:a16="http://schemas.microsoft.com/office/drawing/2014/main" val="2813664841"/>
                    </a:ext>
                  </a:extLst>
                </a:gridCol>
              </a:tblGrid>
              <a:tr h="3953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&amp; Description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74947"/>
                  </a:ext>
                </a:extLst>
              </a:tr>
              <a:tr h="65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= (Equal):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two operands are equal or not, if yes,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== B) is not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09085"/>
                  </a:ext>
                </a:extLst>
              </a:tr>
              <a:tr h="65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 (Not Equal):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two operands are equal or not, if the values are not equal,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!= B) is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675888"/>
                  </a:ext>
                </a:extLst>
              </a:tr>
              <a:tr h="65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(Greater than):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the left operand is greater than the value of the right operand, if yes,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&gt; B) is not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025502"/>
                  </a:ext>
                </a:extLst>
              </a:tr>
              <a:tr h="65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(Less than):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the left operand is less than the value of the right operand, if yes,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&lt; B) is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387982"/>
                  </a:ext>
                </a:extLst>
              </a:tr>
              <a:tr h="65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(Greater than or Equal to):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the left operand is greater than or equal to the value of the right operand, if yes,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&gt;= B) is not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043996"/>
                  </a:ext>
                </a:extLst>
              </a:tr>
              <a:tr h="65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 (Less than or Equal to):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the left operand is less than or equal to the value of the right operand, if yes,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&lt;= B) is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204153"/>
                  </a:ext>
                </a:extLst>
              </a:tr>
              <a:tr h="756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= (Equal):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if the value of two operands are equal or not, if yes,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== B) is not true.</a:t>
                      </a:r>
                    </a:p>
                  </a:txBody>
                  <a:tcPr marL="8981" marR="8981" marT="8981" marB="8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202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52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564D-3BE9-39EB-EDE7-953712EF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92C4-32A0-3B02-4EE5-FB13EF61C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7D1CA-EE16-7A84-1E08-0E787E655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7A5FD-055C-6EA3-94C8-1DF183B5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A7526A-71C0-C492-3E02-17109C45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22218"/>
              </p:ext>
            </p:extLst>
          </p:nvPr>
        </p:nvGraphicFramePr>
        <p:xfrm>
          <a:off x="893380" y="1361069"/>
          <a:ext cx="10314790" cy="2341932"/>
        </p:xfrm>
        <a:graphic>
          <a:graphicData uri="http://schemas.openxmlformats.org/drawingml/2006/table">
            <a:tbl>
              <a:tblPr/>
              <a:tblGrid>
                <a:gridCol w="792150">
                  <a:extLst>
                    <a:ext uri="{9D8B030D-6E8A-4147-A177-3AD203B41FA5}">
                      <a16:colId xmlns:a16="http://schemas.microsoft.com/office/drawing/2014/main" val="911862761"/>
                    </a:ext>
                  </a:extLst>
                </a:gridCol>
                <a:gridCol w="9522640">
                  <a:extLst>
                    <a:ext uri="{9D8B030D-6E8A-4147-A177-3AD203B41FA5}">
                      <a16:colId xmlns:a16="http://schemas.microsoft.com/office/drawing/2014/main" val="2813664841"/>
                    </a:ext>
                  </a:extLst>
                </a:gridCol>
              </a:tblGrid>
              <a:tr h="3798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&amp; Description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74947"/>
                  </a:ext>
                </a:extLst>
              </a:tr>
              <a:tr h="608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211" marR="22211" marT="22211" marB="222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 (Logical AND):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both the operands are non-zero,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&amp;&amp; B) is true.</a:t>
                      </a:r>
                    </a:p>
                  </a:txBody>
                  <a:tcPr marL="22211" marR="22211" marT="22211" marB="222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09085"/>
                  </a:ext>
                </a:extLst>
              </a:tr>
              <a:tr h="562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211" marR="22211" marT="22211" marB="222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 (Logical OR):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any of the two operands are non-zero, then the condition becomes true.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|| B) is true.</a:t>
                      </a:r>
                    </a:p>
                  </a:txBody>
                  <a:tcPr marL="22211" marR="22211" marT="22211" marB="222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675888"/>
                  </a:ext>
                </a:extLst>
              </a:tr>
              <a:tr h="5780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211" marR="22211" marT="22211" marB="222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 (Logical NOT):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Reverses the logical state of its operand. If a condition is true, then the Logical NOT operator will make it false.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! (A &amp;&amp; B) is false.</a:t>
                      </a:r>
                    </a:p>
                  </a:txBody>
                  <a:tcPr marL="22211" marR="22211" marT="22211" marB="222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02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33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BDEC9-1FA8-BFC5-EB7D-EB743A5C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BDC3-84F0-3876-8208-0D4E88233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C9A6F-C4C8-E0FD-A9AD-0D24493D0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BE841-49E8-51DD-0F94-4420A562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B089CC-530F-8A29-458D-FEDDE7B78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531618"/>
              </p:ext>
            </p:extLst>
          </p:nvPr>
        </p:nvGraphicFramePr>
        <p:xfrm>
          <a:off x="0" y="1392072"/>
          <a:ext cx="12191999" cy="5276241"/>
        </p:xfrm>
        <a:graphic>
          <a:graphicData uri="http://schemas.openxmlformats.org/drawingml/2006/table">
            <a:tbl>
              <a:tblPr/>
              <a:tblGrid>
                <a:gridCol w="903890">
                  <a:extLst>
                    <a:ext uri="{9D8B030D-6E8A-4147-A177-3AD203B41FA5}">
                      <a16:colId xmlns:a16="http://schemas.microsoft.com/office/drawing/2014/main" val="3371974410"/>
                    </a:ext>
                  </a:extLst>
                </a:gridCol>
                <a:gridCol w="11288109">
                  <a:extLst>
                    <a:ext uri="{9D8B030D-6E8A-4147-A177-3AD203B41FA5}">
                      <a16:colId xmlns:a16="http://schemas.microsoft.com/office/drawing/2014/main" val="1203533766"/>
                    </a:ext>
                  </a:extLst>
                </a:gridCol>
              </a:tblGrid>
              <a:tr h="127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&amp; Description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15005"/>
                  </a:ext>
                </a:extLst>
              </a:tr>
              <a:tr h="517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(Bitwise AND):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performs a Boolean AND operation on each bit of its integer arguments.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&amp; B) is 2.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86235"/>
                  </a:ext>
                </a:extLst>
              </a:tr>
              <a:tr h="4615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 (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performs a Boolean OR operation on each bit of its integer arguments.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| B) is 3.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380727"/>
                  </a:ext>
                </a:extLst>
              </a:tr>
              <a:tr h="9076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 (Bitwise XOR):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performs a Boolean exclusive OR operation on each bit of its integer arguments. Exclusive OR means that either operand one is true or operand two is true, but not both.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^ B) is 1.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070780"/>
                  </a:ext>
                </a:extLst>
              </a:tr>
              <a:tr h="4615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(Bitwise Not):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a unary operator and operates by reversing all the bits in the operand.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(~B) is -4.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224673"/>
                  </a:ext>
                </a:extLst>
              </a:tr>
              <a:tr h="12422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 (Left Shift):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moves all the bits in its first operand to the left by the number of places specified in the second operand. New bits are filled with zeros. Shifting a value left by one position is equivalent to multiplying it by 2, shifting two positions is equivalent to multiplying by 4, and so on.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&lt;&lt; 1) is 4.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080783"/>
                  </a:ext>
                </a:extLst>
              </a:tr>
              <a:tr h="628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 (Right Shift):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Right Shift Operator. The left operand's value is moved right by the number of bits specified by the right operand.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&gt;&gt; 1) is 1.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98323"/>
                  </a:ext>
                </a:extLst>
              </a:tr>
              <a:tr h="628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&gt;&gt;&gt; (Right shift with Zero):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operator is just like the &gt;&gt; operator, except that the bits shifted in on the left are always zero.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(A &gt;&gt;&gt; 1) is 1.</a:t>
                      </a:r>
                    </a:p>
                  </a:txBody>
                  <a:tcPr marL="7745" marR="7745" marT="7745" marB="77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193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33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D584-1BAB-E74C-25C4-B174F5C5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6555-C5AB-12CA-59BB-7481E6BC0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7978C-EB73-ECCD-0805-E2AE2969B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Same logic applies to Bitwise operators so they will become like &lt;&lt;=, &gt;&gt;=, &gt;&gt;=, &amp;=, |= and ^=.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CDC70-8BAD-AB5A-DAE1-2478AFE6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40CD82-4910-5366-6AEF-ECDB7B85C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0959"/>
              </p:ext>
            </p:extLst>
          </p:nvPr>
        </p:nvGraphicFramePr>
        <p:xfrm>
          <a:off x="1" y="1358901"/>
          <a:ext cx="12191998" cy="4720487"/>
        </p:xfrm>
        <a:graphic>
          <a:graphicData uri="http://schemas.openxmlformats.org/drawingml/2006/table">
            <a:tbl>
              <a:tblPr/>
              <a:tblGrid>
                <a:gridCol w="772509">
                  <a:extLst>
                    <a:ext uri="{9D8B030D-6E8A-4147-A177-3AD203B41FA5}">
                      <a16:colId xmlns:a16="http://schemas.microsoft.com/office/drawing/2014/main" val="966826291"/>
                    </a:ext>
                  </a:extLst>
                </a:gridCol>
                <a:gridCol w="11419489">
                  <a:extLst>
                    <a:ext uri="{9D8B030D-6E8A-4147-A177-3AD203B41FA5}">
                      <a16:colId xmlns:a16="http://schemas.microsoft.com/office/drawing/2014/main" val="2565243056"/>
                    </a:ext>
                  </a:extLst>
                </a:gridCol>
              </a:tblGrid>
              <a:tr h="2688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&amp; 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722614"/>
                  </a:ext>
                </a:extLst>
              </a:tr>
              <a:tr h="668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(Simple Assignment 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values from the right-side operand to the left side operand</a:t>
                      </a:r>
                    </a:p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 = A + B will assign the value of A + B into 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11877"/>
                  </a:ext>
                </a:extLst>
              </a:tr>
              <a:tr h="661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+= (Add and Assignment):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adds the right operand to the left operand and assigns the result to the left operand.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 += A is equivalent to C = C + 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014909"/>
                  </a:ext>
                </a:extLst>
              </a:tr>
              <a:tr h="7567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−= (Subtract and Assignment):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subtracts the right operand from the left operand and assigns the result to the left operand.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 -= A is equivalent to C = C – 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118221"/>
                  </a:ext>
                </a:extLst>
              </a:tr>
              <a:tr h="8639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*= (Multiply and Assignment):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multiplies the right operand with the left operand and assigns the result to the left operand.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 *= A is equivalent to C = C * 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541801"/>
                  </a:ext>
                </a:extLst>
              </a:tr>
              <a:tr h="666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/= (Divide and Assignment):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divides the left operand with the right operand and assigns the result to the left operand.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 /= A is equivalent to C = C / 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45344"/>
                  </a:ext>
                </a:extLst>
              </a:tr>
              <a:tr h="798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%= (Modules and Assignment):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takes modulus using two operands and assigns the result to the left operand.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Ex: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 %= A is equivalent to C = C % 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12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417D-F430-4FA4-0E71-99BC35C8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6350-0EAA-14DA-9EF0-0DBA347B5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67"/>
            <a:ext cx="12192000" cy="1350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845D2-91EF-29D2-DD5F-A325AB941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2072"/>
            <a:ext cx="12191999" cy="546592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73C91-319A-7E64-DD46-E58B9418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05868B-A334-E274-0561-032575D68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148555"/>
              </p:ext>
            </p:extLst>
          </p:nvPr>
        </p:nvGraphicFramePr>
        <p:xfrm>
          <a:off x="982719" y="1392072"/>
          <a:ext cx="9845797" cy="701040"/>
        </p:xfrm>
        <a:graphic>
          <a:graphicData uri="http://schemas.openxmlformats.org/drawingml/2006/table">
            <a:tbl>
              <a:tblPr/>
              <a:tblGrid>
                <a:gridCol w="782527">
                  <a:extLst>
                    <a:ext uri="{9D8B030D-6E8A-4147-A177-3AD203B41FA5}">
                      <a16:colId xmlns:a16="http://schemas.microsoft.com/office/drawing/2014/main" val="1919750103"/>
                    </a:ext>
                  </a:extLst>
                </a:gridCol>
                <a:gridCol w="9063270">
                  <a:extLst>
                    <a:ext uri="{9D8B030D-6E8A-4147-A177-3AD203B41FA5}">
                      <a16:colId xmlns:a16="http://schemas.microsoft.com/office/drawing/2014/main" val="1094255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and Description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369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 : (Conditional ) 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Condition is true? Then value X : Otherwise, value Y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661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314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89794"/>
            <a:ext cx="12192000" cy="9313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5212E-7E47-46B0-BE65-5B75620CD28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06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2883</TotalTime>
  <Words>1204</Words>
  <Application>Microsoft Office PowerPoint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Solidity Operators</vt:lpstr>
      <vt:lpstr>Arithmetic operator</vt:lpstr>
      <vt:lpstr>Relational operator</vt:lpstr>
      <vt:lpstr>Logical operator</vt:lpstr>
      <vt:lpstr>Bitwise operator</vt:lpstr>
      <vt:lpstr>Assignment operators</vt:lpstr>
      <vt:lpstr>Conditional operator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PSD Training</dc:title>
  <dc:creator>Administrator</dc:creator>
  <cp:lastModifiedBy>Dilip kumar</cp:lastModifiedBy>
  <cp:revision>855</cp:revision>
  <dcterms:created xsi:type="dcterms:W3CDTF">2021-04-06T03:53:21Z</dcterms:created>
  <dcterms:modified xsi:type="dcterms:W3CDTF">2025-11-17T17:50:33Z</dcterms:modified>
</cp:coreProperties>
</file>